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5" r:id="rId2"/>
    <p:sldId id="256" r:id="rId3"/>
    <p:sldId id="257" r:id="rId4"/>
    <p:sldId id="258" r:id="rId5"/>
    <p:sldId id="259" r:id="rId6"/>
    <p:sldId id="260" r:id="rId7"/>
    <p:sldId id="261"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909" autoAdjust="0"/>
  </p:normalViewPr>
  <p:slideViewPr>
    <p:cSldViewPr snapToGrid="0" snapToObjects="1">
      <p:cViewPr varScale="1">
        <p:scale>
          <a:sx n="78" d="100"/>
          <a:sy n="78" d="100"/>
        </p:scale>
        <p:origin x="13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dam Sharma" userId="e775ba27198b4af2" providerId="LiveId" clId="{260CCAF2-7DE6-4477-A121-F9E6C6C3C701}"/>
    <pc:docChg chg="undo custSel addSld delSld modSld sldOrd">
      <pc:chgData name="Padam Sharma" userId="e775ba27198b4af2" providerId="LiveId" clId="{260CCAF2-7DE6-4477-A121-F9E6C6C3C701}" dt="2026-09-15T12:07:36.990" v="1619" actId="207"/>
      <pc:docMkLst>
        <pc:docMk/>
      </pc:docMkLst>
      <pc:sldChg chg="addSp delSp modSp mod ord setBg">
        <pc:chgData name="Padam Sharma" userId="e775ba27198b4af2" providerId="LiveId" clId="{260CCAF2-7DE6-4477-A121-F9E6C6C3C701}" dt="2026-09-15T12:02:01.900" v="1587" actId="1076"/>
        <pc:sldMkLst>
          <pc:docMk/>
          <pc:sldMk cId="0" sldId="256"/>
        </pc:sldMkLst>
        <pc:spChg chg="mod">
          <ac:chgData name="Padam Sharma" userId="e775ba27198b4af2" providerId="LiveId" clId="{260CCAF2-7DE6-4477-A121-F9E6C6C3C701}" dt="2026-09-14T11:08:36.873" v="168" actId="207"/>
          <ac:spMkLst>
            <pc:docMk/>
            <pc:sldMk cId="0" sldId="256"/>
            <ac:spMk id="2" creationId="{00000000-0000-0000-0000-000000000000}"/>
          </ac:spMkLst>
        </pc:spChg>
        <pc:spChg chg="add mod">
          <ac:chgData name="Padam Sharma" userId="e775ba27198b4af2" providerId="LiveId" clId="{260CCAF2-7DE6-4477-A121-F9E6C6C3C701}" dt="2026-09-15T12:02:01.900" v="1587" actId="1076"/>
          <ac:spMkLst>
            <pc:docMk/>
            <pc:sldMk cId="0" sldId="256"/>
            <ac:spMk id="4" creationId="{DF87A882-76AB-A101-5B4D-EF1284F3D1C3}"/>
          </ac:spMkLst>
        </pc:spChg>
        <pc:spChg chg="add del mod">
          <ac:chgData name="Padam Sharma" userId="e775ba27198b4af2" providerId="LiveId" clId="{260CCAF2-7DE6-4477-A121-F9E6C6C3C701}" dt="2026-09-14T11:04:48.841" v="131" actId="478"/>
          <ac:spMkLst>
            <pc:docMk/>
            <pc:sldMk cId="0" sldId="256"/>
            <ac:spMk id="5" creationId="{7E532412-60A1-2125-B022-0C2ECA7FD51C}"/>
          </ac:spMkLst>
        </pc:spChg>
        <pc:spChg chg="add mod">
          <ac:chgData name="Padam Sharma" userId="e775ba27198b4af2" providerId="LiveId" clId="{260CCAF2-7DE6-4477-A121-F9E6C6C3C701}" dt="2026-09-15T11:12:46.415" v="861" actId="20577"/>
          <ac:spMkLst>
            <pc:docMk/>
            <pc:sldMk cId="0" sldId="256"/>
            <ac:spMk id="7" creationId="{1DBF6B8F-8C62-37B3-BFC5-86B8084EC5F2}"/>
          </ac:spMkLst>
        </pc:spChg>
        <pc:picChg chg="add del mod">
          <ac:chgData name="Padam Sharma" userId="e775ba27198b4af2" providerId="LiveId" clId="{260CCAF2-7DE6-4477-A121-F9E6C6C3C701}" dt="2026-09-15T06:13:53.413" v="504" actId="478"/>
          <ac:picMkLst>
            <pc:docMk/>
            <pc:sldMk cId="0" sldId="256"/>
            <ac:picMk id="4" creationId="{9200D1D7-2EDD-615B-B8A1-CBA04D1D2410}"/>
          </ac:picMkLst>
        </pc:picChg>
        <pc:picChg chg="add mod">
          <ac:chgData name="Padam Sharma" userId="e775ba27198b4af2" providerId="LiveId" clId="{260CCAF2-7DE6-4477-A121-F9E6C6C3C701}" dt="2026-09-15T06:14:39.098" v="509" actId="1076"/>
          <ac:picMkLst>
            <pc:docMk/>
            <pc:sldMk cId="0" sldId="256"/>
            <ac:picMk id="5" creationId="{EB375A22-0255-9CDD-1C53-94A6BF40F4E1}"/>
          </ac:picMkLst>
        </pc:picChg>
      </pc:sldChg>
      <pc:sldChg chg="addSp modSp mod">
        <pc:chgData name="Padam Sharma" userId="e775ba27198b4af2" providerId="LiveId" clId="{260CCAF2-7DE6-4477-A121-F9E6C6C3C701}" dt="2026-09-15T12:02:33.685" v="1592" actId="1076"/>
        <pc:sldMkLst>
          <pc:docMk/>
          <pc:sldMk cId="0" sldId="257"/>
        </pc:sldMkLst>
        <pc:spChg chg="mod">
          <ac:chgData name="Padam Sharma" userId="e775ba27198b4af2" providerId="LiveId" clId="{260CCAF2-7DE6-4477-A121-F9E6C6C3C701}" dt="2026-09-14T11:12:22.815" v="192" actId="207"/>
          <ac:spMkLst>
            <pc:docMk/>
            <pc:sldMk cId="0" sldId="257"/>
            <ac:spMk id="2" creationId="{00000000-0000-0000-0000-000000000000}"/>
          </ac:spMkLst>
        </pc:spChg>
        <pc:spChg chg="mod">
          <ac:chgData name="Padam Sharma" userId="e775ba27198b4af2" providerId="LiveId" clId="{260CCAF2-7DE6-4477-A121-F9E6C6C3C701}" dt="2026-09-14T11:09:36.246" v="172" actId="20577"/>
          <ac:spMkLst>
            <pc:docMk/>
            <pc:sldMk cId="0" sldId="257"/>
            <ac:spMk id="4" creationId="{00000000-0000-0000-0000-000000000000}"/>
          </ac:spMkLst>
        </pc:spChg>
        <pc:spChg chg="add mod">
          <ac:chgData name="Padam Sharma" userId="e775ba27198b4af2" providerId="LiveId" clId="{260CCAF2-7DE6-4477-A121-F9E6C6C3C701}" dt="2026-09-15T12:02:33.685" v="1592" actId="1076"/>
          <ac:spMkLst>
            <pc:docMk/>
            <pc:sldMk cId="0" sldId="257"/>
            <ac:spMk id="7" creationId="{08181BCD-C5E9-A82A-9039-03396EB7AAF4}"/>
          </ac:spMkLst>
        </pc:spChg>
        <pc:picChg chg="add mod ord">
          <ac:chgData name="Padam Sharma" userId="e775ba27198b4af2" providerId="LiveId" clId="{260CCAF2-7DE6-4477-A121-F9E6C6C3C701}" dt="2026-09-15T12:02:09.993" v="1588" actId="1076"/>
          <ac:picMkLst>
            <pc:docMk/>
            <pc:sldMk cId="0" sldId="257"/>
            <ac:picMk id="6" creationId="{F01D13B8-6B36-5C8F-4FDB-98FC6FCDC230}"/>
          </ac:picMkLst>
        </pc:picChg>
        <pc:picChg chg="add mod">
          <ac:chgData name="Padam Sharma" userId="e775ba27198b4af2" providerId="LiveId" clId="{260CCAF2-7DE6-4477-A121-F9E6C6C3C701}" dt="2026-09-15T12:02:11.685" v="1589" actId="1076"/>
          <ac:picMkLst>
            <pc:docMk/>
            <pc:sldMk cId="0" sldId="257"/>
            <ac:picMk id="8" creationId="{C22BFEF7-1D94-8B0E-EFB8-B31A9C1E74C8}"/>
          </ac:picMkLst>
        </pc:picChg>
        <pc:picChg chg="add mod">
          <ac:chgData name="Padam Sharma" userId="e775ba27198b4af2" providerId="LiveId" clId="{260CCAF2-7DE6-4477-A121-F9E6C6C3C701}" dt="2026-09-15T12:02:13.609" v="1590" actId="1076"/>
          <ac:picMkLst>
            <pc:docMk/>
            <pc:sldMk cId="0" sldId="257"/>
            <ac:picMk id="10" creationId="{11BC1EC8-1FE9-472D-D5B3-80F93D590DD7}"/>
          </ac:picMkLst>
        </pc:picChg>
      </pc:sldChg>
      <pc:sldChg chg="modSp mod">
        <pc:chgData name="Padam Sharma" userId="e775ba27198b4af2" providerId="LiveId" clId="{260CCAF2-7DE6-4477-A121-F9E6C6C3C701}" dt="2026-09-15T11:17:46.866" v="879"/>
        <pc:sldMkLst>
          <pc:docMk/>
          <pc:sldMk cId="0" sldId="258"/>
        </pc:sldMkLst>
        <pc:spChg chg="mod">
          <ac:chgData name="Padam Sharma" userId="e775ba27198b4af2" providerId="LiveId" clId="{260CCAF2-7DE6-4477-A121-F9E6C6C3C701}" dt="2026-09-15T11:17:46.866" v="879"/>
          <ac:spMkLst>
            <pc:docMk/>
            <pc:sldMk cId="0" sldId="258"/>
            <ac:spMk id="3" creationId="{EF071F36-A9CB-6080-ADAD-1D0CEC1E37EF}"/>
          </ac:spMkLst>
        </pc:spChg>
      </pc:sldChg>
      <pc:sldChg chg="addSp delSp modSp mod">
        <pc:chgData name="Padam Sharma" userId="e775ba27198b4af2" providerId="LiveId" clId="{260CCAF2-7DE6-4477-A121-F9E6C6C3C701}" dt="2026-09-15T12:02:56.093" v="1596"/>
        <pc:sldMkLst>
          <pc:docMk/>
          <pc:sldMk cId="0" sldId="258"/>
        </pc:sldMkLst>
        <pc:spChg chg="del mod">
          <ac:chgData name="Padam Sharma" userId="e775ba27198b4af2" providerId="LiveId" clId="{260CCAF2-7DE6-4477-A121-F9E6C6C3C701}" dt="2026-09-15T11:17:34.846" v="872"/>
          <ac:spMkLst>
            <pc:docMk/>
            <pc:sldMk cId="0" sldId="258"/>
            <ac:spMk id="2" creationId="{00000000-0000-0000-0000-000000000000}"/>
          </ac:spMkLst>
        </pc:spChg>
        <pc:spChg chg="del mod">
          <ac:chgData name="Padam Sharma" userId="e775ba27198b4af2" providerId="LiveId" clId="{260CCAF2-7DE6-4477-A121-F9E6C6C3C701}" dt="2026-09-15T11:17:34.846" v="874"/>
          <ac:spMkLst>
            <pc:docMk/>
            <pc:sldMk cId="0" sldId="258"/>
            <ac:spMk id="3" creationId="{00000000-0000-0000-0000-000000000000}"/>
          </ac:spMkLst>
        </pc:spChg>
        <pc:spChg chg="del mod">
          <ac:chgData name="Padam Sharma" userId="e775ba27198b4af2" providerId="LiveId" clId="{260CCAF2-7DE6-4477-A121-F9E6C6C3C701}" dt="2026-09-15T11:17:34.846" v="876"/>
          <ac:spMkLst>
            <pc:docMk/>
            <pc:sldMk cId="0" sldId="258"/>
            <ac:spMk id="4" creationId="{00000000-0000-0000-0000-000000000000}"/>
          </ac:spMkLst>
        </pc:spChg>
        <pc:spChg chg="del mod">
          <ac:chgData name="Padam Sharma" userId="e775ba27198b4af2" providerId="LiveId" clId="{260CCAF2-7DE6-4477-A121-F9E6C6C3C701}" dt="2026-09-15T11:17:34.846" v="878"/>
          <ac:spMkLst>
            <pc:docMk/>
            <pc:sldMk cId="0" sldId="258"/>
            <ac:spMk id="5" creationId="{00000000-0000-0000-0000-000000000000}"/>
          </ac:spMkLst>
        </pc:spChg>
        <pc:spChg chg="add mod">
          <ac:chgData name="Padam Sharma" userId="e775ba27198b4af2" providerId="LiveId" clId="{260CCAF2-7DE6-4477-A121-F9E6C6C3C701}" dt="2026-09-15T12:02:56.093" v="1596"/>
          <ac:spMkLst>
            <pc:docMk/>
            <pc:sldMk cId="0" sldId="258"/>
            <ac:spMk id="6" creationId="{16DFD6BD-949F-733B-8036-BF6E8FB6A485}"/>
          </ac:spMkLst>
        </pc:spChg>
      </pc:sldChg>
      <pc:sldChg chg="modSp mod">
        <pc:chgData name="Padam Sharma" userId="e775ba27198b4af2" providerId="LiveId" clId="{260CCAF2-7DE6-4477-A121-F9E6C6C3C701}" dt="2026-09-15T11:18:36.540" v="880"/>
        <pc:sldMkLst>
          <pc:docMk/>
          <pc:sldMk cId="0" sldId="258"/>
        </pc:sldMkLst>
        <pc:spChg chg="mod">
          <ac:chgData name="Padam Sharma" userId="e775ba27198b4af2" providerId="LiveId" clId="{260CCAF2-7DE6-4477-A121-F9E6C6C3C701}" dt="2026-09-15T11:18:36.540" v="880"/>
          <ac:spMkLst>
            <pc:docMk/>
            <pc:sldMk cId="0" sldId="258"/>
            <ac:spMk id="3" creationId="{394C011C-FCD9-0530-EAAB-D963720C7BAB}"/>
          </ac:spMkLst>
        </pc:spChg>
      </pc:sldChg>
      <pc:sldChg chg="addSp delSp modSp mod">
        <pc:chgData name="Padam Sharma" userId="e775ba27198b4af2" providerId="LiveId" clId="{260CCAF2-7DE6-4477-A121-F9E6C6C3C701}" dt="2026-09-15T12:04:25.582" v="1599" actId="14100"/>
        <pc:sldMkLst>
          <pc:docMk/>
          <pc:sldMk cId="0" sldId="259"/>
        </pc:sldMkLst>
        <pc:spChg chg="mod">
          <ac:chgData name="Padam Sharma" userId="e775ba27198b4af2" providerId="LiveId" clId="{260CCAF2-7DE6-4477-A121-F9E6C6C3C701}" dt="2026-09-15T11:26:03.045" v="1013" actId="1076"/>
          <ac:spMkLst>
            <pc:docMk/>
            <pc:sldMk cId="0" sldId="259"/>
            <ac:spMk id="2" creationId="{00000000-0000-0000-0000-000000000000}"/>
          </ac:spMkLst>
        </pc:spChg>
        <pc:spChg chg="mod">
          <ac:chgData name="Padam Sharma" userId="e775ba27198b4af2" providerId="LiveId" clId="{260CCAF2-7DE6-4477-A121-F9E6C6C3C701}" dt="2026-09-15T11:25:53.802" v="1011" actId="1076"/>
          <ac:spMkLst>
            <pc:docMk/>
            <pc:sldMk cId="0" sldId="259"/>
            <ac:spMk id="3" creationId="{00000000-0000-0000-0000-000000000000}"/>
          </ac:spMkLst>
        </pc:spChg>
        <pc:spChg chg="del mod">
          <ac:chgData name="Padam Sharma" userId="e775ba27198b4af2" providerId="LiveId" clId="{260CCAF2-7DE6-4477-A121-F9E6C6C3C701}" dt="2026-09-14T11:12:56.236" v="197"/>
          <ac:spMkLst>
            <pc:docMk/>
            <pc:sldMk cId="0" sldId="259"/>
            <ac:spMk id="4" creationId="{00000000-0000-0000-0000-000000000000}"/>
          </ac:spMkLst>
        </pc:spChg>
        <pc:spChg chg="del mod">
          <ac:chgData name="Padam Sharma" userId="e775ba27198b4af2" providerId="LiveId" clId="{260CCAF2-7DE6-4477-A121-F9E6C6C3C701}" dt="2026-09-14T11:12:56.238" v="199"/>
          <ac:spMkLst>
            <pc:docMk/>
            <pc:sldMk cId="0" sldId="259"/>
            <ac:spMk id="5" creationId="{00000000-0000-0000-0000-000000000000}"/>
          </ac:spMkLst>
        </pc:spChg>
        <pc:spChg chg="add mod">
          <ac:chgData name="Padam Sharma" userId="e775ba27198b4af2" providerId="LiveId" clId="{260CCAF2-7DE6-4477-A121-F9E6C6C3C701}" dt="2026-09-15T12:04:25.582" v="1599" actId="14100"/>
          <ac:spMkLst>
            <pc:docMk/>
            <pc:sldMk cId="0" sldId="259"/>
            <ac:spMk id="5" creationId="{120BB8E9-F1ED-C455-58B8-BAAE437F5CF1}"/>
          </ac:spMkLst>
        </pc:spChg>
        <pc:picChg chg="add mod">
          <ac:chgData name="Padam Sharma" userId="e775ba27198b4af2" providerId="LiveId" clId="{260CCAF2-7DE6-4477-A121-F9E6C6C3C701}" dt="2026-09-15T11:26:29.833" v="1014" actId="13822"/>
          <ac:picMkLst>
            <pc:docMk/>
            <pc:sldMk cId="0" sldId="259"/>
            <ac:picMk id="7" creationId="{1D97F9A9-028E-1F6C-DA6E-B944E79BF718}"/>
          </ac:picMkLst>
        </pc:picChg>
      </pc:sldChg>
      <pc:sldChg chg="addSp modSp mod">
        <pc:chgData name="Padam Sharma" userId="e775ba27198b4af2" providerId="LiveId" clId="{260CCAF2-7DE6-4477-A121-F9E6C6C3C701}" dt="2026-09-15T11:34:08.302" v="1113" actId="14100"/>
        <pc:sldMkLst>
          <pc:docMk/>
          <pc:sldMk cId="0" sldId="260"/>
        </pc:sldMkLst>
        <pc:spChg chg="mod">
          <ac:chgData name="Padam Sharma" userId="e775ba27198b4af2" providerId="LiveId" clId="{260CCAF2-7DE6-4477-A121-F9E6C6C3C701}" dt="2026-09-15T11:34:08.302" v="1113" actId="14100"/>
          <ac:spMkLst>
            <pc:docMk/>
            <pc:sldMk cId="0" sldId="260"/>
            <ac:spMk id="2" creationId="{00000000-0000-0000-0000-000000000000}"/>
          </ac:spMkLst>
        </pc:spChg>
        <pc:spChg chg="mod">
          <ac:chgData name="Padam Sharma" userId="e775ba27198b4af2" providerId="LiveId" clId="{260CCAF2-7DE6-4477-A121-F9E6C6C3C701}" dt="2026-09-15T11:31:21.858" v="1040" actId="1076"/>
          <ac:spMkLst>
            <pc:docMk/>
            <pc:sldMk cId="0" sldId="260"/>
            <ac:spMk id="3" creationId="{00000000-0000-0000-0000-000000000000}"/>
          </ac:spMkLst>
        </pc:spChg>
        <pc:spChg chg="mod">
          <ac:chgData name="Padam Sharma" userId="e775ba27198b4af2" providerId="LiveId" clId="{260CCAF2-7DE6-4477-A121-F9E6C6C3C701}" dt="2026-09-15T11:31:30.421" v="1042" actId="1076"/>
          <ac:spMkLst>
            <pc:docMk/>
            <pc:sldMk cId="0" sldId="260"/>
            <ac:spMk id="4" creationId="{00000000-0000-0000-0000-000000000000}"/>
          </ac:spMkLst>
        </pc:spChg>
        <pc:spChg chg="mod">
          <ac:chgData name="Padam Sharma" userId="e775ba27198b4af2" providerId="LiveId" clId="{260CCAF2-7DE6-4477-A121-F9E6C6C3C701}" dt="2026-09-15T11:30:45.613" v="1034" actId="1076"/>
          <ac:spMkLst>
            <pc:docMk/>
            <pc:sldMk cId="0" sldId="260"/>
            <ac:spMk id="5" creationId="{00000000-0000-0000-0000-000000000000}"/>
          </ac:spMkLst>
        </pc:spChg>
        <pc:spChg chg="mod">
          <ac:chgData name="Padam Sharma" userId="e775ba27198b4af2" providerId="LiveId" clId="{260CCAF2-7DE6-4477-A121-F9E6C6C3C701}" dt="2026-09-15T11:31:27.483" v="1041" actId="1076"/>
          <ac:spMkLst>
            <pc:docMk/>
            <pc:sldMk cId="0" sldId="260"/>
            <ac:spMk id="6" creationId="{00000000-0000-0000-0000-000000000000}"/>
          </ac:spMkLst>
        </pc:spChg>
        <pc:spChg chg="add mod">
          <ac:chgData name="Padam Sharma" userId="e775ba27198b4af2" providerId="LiveId" clId="{260CCAF2-7DE6-4477-A121-F9E6C6C3C701}" dt="2026-09-15T11:33:46.032" v="1112" actId="313"/>
          <ac:spMkLst>
            <pc:docMk/>
            <pc:sldMk cId="0" sldId="260"/>
            <ac:spMk id="8" creationId="{8C6FB43D-DCB2-679F-F2A8-D7B86C3E76C5}"/>
          </ac:spMkLst>
        </pc:spChg>
      </pc:sldChg>
      <pc:sldChg chg="modSp mod">
        <pc:chgData name="Padam Sharma" userId="e775ba27198b4af2" providerId="LiveId" clId="{260CCAF2-7DE6-4477-A121-F9E6C6C3C701}" dt="2026-09-15T12:04:41.745" v="1601" actId="1076"/>
        <pc:sldMkLst>
          <pc:docMk/>
          <pc:sldMk cId="0" sldId="261"/>
        </pc:sldMkLst>
        <pc:spChg chg="mod">
          <ac:chgData name="Padam Sharma" userId="e775ba27198b4af2" providerId="LiveId" clId="{260CCAF2-7DE6-4477-A121-F9E6C6C3C701}" dt="2026-09-15T11:34:32.244" v="1114" actId="1076"/>
          <ac:spMkLst>
            <pc:docMk/>
            <pc:sldMk cId="0" sldId="261"/>
            <ac:spMk id="3" creationId="{00000000-0000-0000-0000-000000000000}"/>
          </ac:spMkLst>
        </pc:spChg>
        <pc:spChg chg="mod">
          <ac:chgData name="Padam Sharma" userId="e775ba27198b4af2" providerId="LiveId" clId="{260CCAF2-7DE6-4477-A121-F9E6C6C3C701}" dt="2026-09-15T12:04:41.745" v="1601" actId="1076"/>
          <ac:spMkLst>
            <pc:docMk/>
            <pc:sldMk cId="0" sldId="261"/>
            <ac:spMk id="4" creationId="{00000000-0000-0000-0000-000000000000}"/>
          </ac:spMkLst>
        </pc:spChg>
      </pc:sldChg>
      <pc:sldChg chg="addSp delSp modSp mod">
        <pc:chgData name="Padam Sharma" userId="e775ba27198b4af2" providerId="LiveId" clId="{260CCAF2-7DE6-4477-A121-F9E6C6C3C701}" dt="2026-09-15T12:05:13.415" v="1603" actId="1076"/>
        <pc:sldMkLst>
          <pc:docMk/>
          <pc:sldMk cId="0" sldId="262"/>
        </pc:sldMkLst>
        <pc:spChg chg="mod">
          <ac:chgData name="Padam Sharma" userId="e775ba27198b4af2" providerId="LiveId" clId="{260CCAF2-7DE6-4477-A121-F9E6C6C3C701}" dt="2026-09-15T12:00:41.909" v="1579" actId="207"/>
          <ac:spMkLst>
            <pc:docMk/>
            <pc:sldMk cId="0" sldId="262"/>
            <ac:spMk id="2" creationId="{00000000-0000-0000-0000-000000000000}"/>
          </ac:spMkLst>
        </pc:spChg>
        <pc:spChg chg="mod">
          <ac:chgData name="Padam Sharma" userId="e775ba27198b4af2" providerId="LiveId" clId="{260CCAF2-7DE6-4477-A121-F9E6C6C3C701}" dt="2026-09-15T12:00:51.269" v="1581" actId="207"/>
          <ac:spMkLst>
            <pc:docMk/>
            <pc:sldMk cId="0" sldId="262"/>
            <ac:spMk id="3" creationId="{00000000-0000-0000-0000-000000000000}"/>
          </ac:spMkLst>
        </pc:spChg>
        <pc:spChg chg="del mod">
          <ac:chgData name="Padam Sharma" userId="e775ba27198b4af2" providerId="LiveId" clId="{260CCAF2-7DE6-4477-A121-F9E6C6C3C701}" dt="2026-09-15T11:45:44.667" v="1274" actId="478"/>
          <ac:spMkLst>
            <pc:docMk/>
            <pc:sldMk cId="0" sldId="262"/>
            <ac:spMk id="4" creationId="{00000000-0000-0000-0000-000000000000}"/>
          </ac:spMkLst>
        </pc:spChg>
        <pc:spChg chg="del mod">
          <ac:chgData name="Padam Sharma" userId="e775ba27198b4af2" providerId="LiveId" clId="{260CCAF2-7DE6-4477-A121-F9E6C6C3C701}" dt="2026-09-15T11:45:57.325" v="1393" actId="478"/>
          <ac:spMkLst>
            <pc:docMk/>
            <pc:sldMk cId="0" sldId="262"/>
            <ac:spMk id="5" creationId="{00000000-0000-0000-0000-000000000000}"/>
          </ac:spMkLst>
        </pc:spChg>
        <pc:spChg chg="add del mod">
          <ac:chgData name="Padam Sharma" userId="e775ba27198b4af2" providerId="LiveId" clId="{260CCAF2-7DE6-4477-A121-F9E6C6C3C701}" dt="2026-09-15T11:46:07.863" v="1428" actId="478"/>
          <ac:spMkLst>
            <pc:docMk/>
            <pc:sldMk cId="0" sldId="262"/>
            <ac:spMk id="7" creationId="{D57DC10F-C6CA-8549-9DFF-B3418874CEF4}"/>
          </ac:spMkLst>
        </pc:spChg>
        <pc:spChg chg="add mod">
          <ac:chgData name="Padam Sharma" userId="e775ba27198b4af2" providerId="LiveId" clId="{260CCAF2-7DE6-4477-A121-F9E6C6C3C701}" dt="2026-09-15T12:05:13.415" v="1603" actId="1076"/>
          <ac:spMkLst>
            <pc:docMk/>
            <pc:sldMk cId="0" sldId="262"/>
            <ac:spMk id="12" creationId="{E2CDE02E-0408-F9B5-6BFC-15E4DE6F064C}"/>
          </ac:spMkLst>
        </pc:spChg>
        <pc:picChg chg="add del mod">
          <ac:chgData name="Padam Sharma" userId="e775ba27198b4af2" providerId="LiveId" clId="{260CCAF2-7DE6-4477-A121-F9E6C6C3C701}" dt="2026-09-15T11:58:10.173" v="1522" actId="478"/>
          <ac:picMkLst>
            <pc:docMk/>
            <pc:sldMk cId="0" sldId="262"/>
            <ac:picMk id="8" creationId="{EF6D4615-C843-0236-CB22-3F80F46BEF8B}"/>
          </ac:picMkLst>
        </pc:picChg>
        <pc:picChg chg="add mod">
          <ac:chgData name="Padam Sharma" userId="e775ba27198b4af2" providerId="LiveId" clId="{260CCAF2-7DE6-4477-A121-F9E6C6C3C701}" dt="2026-09-15T11:59:00.123" v="1528" actId="1076"/>
          <ac:picMkLst>
            <pc:docMk/>
            <pc:sldMk cId="0" sldId="262"/>
            <ac:picMk id="9" creationId="{A46C6094-7366-5982-800E-6D365D264AAB}"/>
          </ac:picMkLst>
        </pc:picChg>
        <pc:picChg chg="add mod">
          <ac:chgData name="Padam Sharma" userId="e775ba27198b4af2" providerId="LiveId" clId="{260CCAF2-7DE6-4477-A121-F9E6C6C3C701}" dt="2026-09-15T11:58:52.457" v="1526" actId="1076"/>
          <ac:picMkLst>
            <pc:docMk/>
            <pc:sldMk cId="0" sldId="262"/>
            <ac:picMk id="10" creationId="{E93E2140-4400-F522-8ACA-DFA2F40330CC}"/>
          </ac:picMkLst>
        </pc:picChg>
      </pc:sldChg>
      <pc:sldChg chg="del">
        <pc:chgData name="Padam Sharma" userId="e775ba27198b4af2" providerId="LiveId" clId="{260CCAF2-7DE6-4477-A121-F9E6C6C3C701}" dt="2026-09-15T11:35:16.114" v="1116" actId="2696"/>
        <pc:sldMkLst>
          <pc:docMk/>
          <pc:sldMk cId="0" sldId="263"/>
        </pc:sldMkLst>
      </pc:sldChg>
      <pc:sldChg chg="addSp delSp modSp mod setBg">
        <pc:chgData name="Padam Sharma" userId="e775ba27198b4af2" providerId="LiveId" clId="{260CCAF2-7DE6-4477-A121-F9E6C6C3C701}" dt="2026-09-15T12:07:36.990" v="1619" actId="207"/>
        <pc:sldMkLst>
          <pc:docMk/>
          <pc:sldMk cId="0" sldId="264"/>
        </pc:sldMkLst>
        <pc:spChg chg="mod">
          <ac:chgData name="Padam Sharma" userId="e775ba27198b4af2" providerId="LiveId" clId="{260CCAF2-7DE6-4477-A121-F9E6C6C3C701}" dt="2026-09-15T12:07:36.990" v="1619" actId="207"/>
          <ac:spMkLst>
            <pc:docMk/>
            <pc:sldMk cId="0" sldId="264"/>
            <ac:spMk id="2" creationId="{00000000-0000-0000-0000-000000000000}"/>
          </ac:spMkLst>
        </pc:spChg>
        <pc:spChg chg="add mod">
          <ac:chgData name="Padam Sharma" userId="e775ba27198b4af2" providerId="LiveId" clId="{260CCAF2-7DE6-4477-A121-F9E6C6C3C701}" dt="2026-09-15T11:36:31.124" v="1123" actId="1076"/>
          <ac:spMkLst>
            <pc:docMk/>
            <pc:sldMk cId="0" sldId="264"/>
            <ac:spMk id="9" creationId="{93110076-BB2F-C6C7-4CF8-5090DF59188F}"/>
          </ac:spMkLst>
        </pc:spChg>
        <pc:spChg chg="add del mod">
          <ac:chgData name="Padam Sharma" userId="e775ba27198b4af2" providerId="LiveId" clId="{260CCAF2-7DE6-4477-A121-F9E6C6C3C701}" dt="2026-09-14T11:19:30.978" v="313"/>
          <ac:spMkLst>
            <pc:docMk/>
            <pc:sldMk cId="0" sldId="264"/>
            <ac:spMk id="10" creationId="{695AAA51-C9A9-2243-2F06-0EBDDA1FA9AB}"/>
          </ac:spMkLst>
        </pc:spChg>
        <pc:spChg chg="add mod">
          <ac:chgData name="Padam Sharma" userId="e775ba27198b4af2" providerId="LiveId" clId="{260CCAF2-7DE6-4477-A121-F9E6C6C3C701}" dt="2026-09-15T12:05:37.900" v="1604" actId="207"/>
          <ac:spMkLst>
            <pc:docMk/>
            <pc:sldMk cId="0" sldId="264"/>
            <ac:spMk id="11" creationId="{655FCCBC-6D5B-A46E-9D7C-943774ED24B6}"/>
          </ac:spMkLst>
        </pc:spChg>
        <pc:spChg chg="add mod">
          <ac:chgData name="Padam Sharma" userId="e775ba27198b4af2" providerId="LiveId" clId="{260CCAF2-7DE6-4477-A121-F9E6C6C3C701}" dt="2026-09-15T12:07:23.440" v="1618" actId="207"/>
          <ac:spMkLst>
            <pc:docMk/>
            <pc:sldMk cId="0" sldId="264"/>
            <ac:spMk id="12" creationId="{42FD8ADD-576C-7441-CEDB-07BDF11B8C06}"/>
          </ac:spMkLst>
        </pc:spChg>
        <pc:picChg chg="add mod">
          <ac:chgData name="Padam Sharma" userId="e775ba27198b4af2" providerId="LiveId" clId="{260CCAF2-7DE6-4477-A121-F9E6C6C3C701}" dt="2026-09-15T12:06:06.995" v="1607" actId="13822"/>
          <ac:picMkLst>
            <pc:docMk/>
            <pc:sldMk cId="0" sldId="264"/>
            <ac:picMk id="4" creationId="{23D5B682-AFD8-4203-007B-8A8B0196FB3E}"/>
          </ac:picMkLst>
        </pc:picChg>
        <pc:picChg chg="add mod">
          <ac:chgData name="Padam Sharma" userId="e775ba27198b4af2" providerId="LiveId" clId="{260CCAF2-7DE6-4477-A121-F9E6C6C3C701}" dt="2026-09-15T12:06:57.121" v="1616" actId="207"/>
          <ac:picMkLst>
            <pc:docMk/>
            <pc:sldMk cId="0" sldId="264"/>
            <ac:picMk id="5" creationId="{71C2978C-38CE-EBBF-1F00-2326BAC8D333}"/>
          </ac:picMkLst>
        </pc:picChg>
        <pc:picChg chg="add mod">
          <ac:chgData name="Padam Sharma" userId="e775ba27198b4af2" providerId="LiveId" clId="{260CCAF2-7DE6-4477-A121-F9E6C6C3C701}" dt="2026-09-15T12:06:10.786" v="1608" actId="13822"/>
          <ac:picMkLst>
            <pc:docMk/>
            <pc:sldMk cId="0" sldId="264"/>
            <ac:picMk id="6" creationId="{3810CAC0-E807-0FEA-12C3-B8B90E80B854}"/>
          </ac:picMkLst>
        </pc:picChg>
        <pc:picChg chg="add mod">
          <ac:chgData name="Padam Sharma" userId="e775ba27198b4af2" providerId="LiveId" clId="{260CCAF2-7DE6-4477-A121-F9E6C6C3C701}" dt="2026-09-15T12:06:13.305" v="1609" actId="13822"/>
          <ac:picMkLst>
            <pc:docMk/>
            <pc:sldMk cId="0" sldId="264"/>
            <ac:picMk id="8" creationId="{0B9D30C7-6CE6-1896-E056-2E0219C87F8E}"/>
          </ac:picMkLst>
        </pc:picChg>
      </pc:sldChg>
      <pc:sldChg chg="addSp delSp modSp new mod setBg">
        <pc:chgData name="Padam Sharma" userId="e775ba27198b4af2" providerId="LiveId" clId="{260CCAF2-7DE6-4477-A121-F9E6C6C3C701}" dt="2026-09-15T12:01:44.087" v="1585" actId="1076"/>
        <pc:sldMkLst>
          <pc:docMk/>
          <pc:sldMk cId="1326040426" sldId="265"/>
        </pc:sldMkLst>
        <pc:spChg chg="add mod">
          <ac:chgData name="Padam Sharma" userId="e775ba27198b4af2" providerId="LiveId" clId="{260CCAF2-7DE6-4477-A121-F9E6C6C3C701}" dt="2026-09-15T10:44:09.877" v="764" actId="20577"/>
          <ac:spMkLst>
            <pc:docMk/>
            <pc:sldMk cId="1326040426" sldId="265"/>
            <ac:spMk id="7" creationId="{4CE7FF4F-54E8-E8B2-0333-4FD2E7556863}"/>
          </ac:spMkLst>
        </pc:spChg>
        <pc:spChg chg="add mod">
          <ac:chgData name="Padam Sharma" userId="e775ba27198b4af2" providerId="LiveId" clId="{260CCAF2-7DE6-4477-A121-F9E6C6C3C701}" dt="2026-09-15T10:46:59.661" v="772" actId="1076"/>
          <ac:spMkLst>
            <pc:docMk/>
            <pc:sldMk cId="1326040426" sldId="265"/>
            <ac:spMk id="9" creationId="{5490DDBD-1E62-4473-56EE-0983E8C26A00}"/>
          </ac:spMkLst>
        </pc:spChg>
        <pc:spChg chg="add mod">
          <ac:chgData name="Padam Sharma" userId="e775ba27198b4af2" providerId="LiveId" clId="{260CCAF2-7DE6-4477-A121-F9E6C6C3C701}" dt="2026-09-15T08:29:13.500" v="693" actId="207"/>
          <ac:spMkLst>
            <pc:docMk/>
            <pc:sldMk cId="1326040426" sldId="265"/>
            <ac:spMk id="14" creationId="{CD668014-A071-7A0F-4E22-E8771260079F}"/>
          </ac:spMkLst>
        </pc:spChg>
        <pc:spChg chg="add del mod">
          <ac:chgData name="Padam Sharma" userId="e775ba27198b4af2" providerId="LiveId" clId="{260CCAF2-7DE6-4477-A121-F9E6C6C3C701}" dt="2026-09-15T11:09:56.040" v="826" actId="478"/>
          <ac:spMkLst>
            <pc:docMk/>
            <pc:sldMk cId="1326040426" sldId="265"/>
            <ac:spMk id="16" creationId="{1442355A-36CD-2A58-D3D5-E0B64ADE33C9}"/>
          </ac:spMkLst>
        </pc:spChg>
        <pc:spChg chg="add mod">
          <ac:chgData name="Padam Sharma" userId="e775ba27198b4af2" providerId="LiveId" clId="{260CCAF2-7DE6-4477-A121-F9E6C6C3C701}" dt="2026-09-15T11:11:44.765" v="842" actId="1076"/>
          <ac:spMkLst>
            <pc:docMk/>
            <pc:sldMk cId="1326040426" sldId="265"/>
            <ac:spMk id="18" creationId="{DA4FBD29-B0C4-60EE-EBC7-E8891E40B039}"/>
          </ac:spMkLst>
        </pc:spChg>
        <pc:spChg chg="add del mod">
          <ac:chgData name="Padam Sharma" userId="e775ba27198b4af2" providerId="LiveId" clId="{260CCAF2-7DE6-4477-A121-F9E6C6C3C701}" dt="2026-09-15T10:48:19.117" v="805" actId="478"/>
          <ac:spMkLst>
            <pc:docMk/>
            <pc:sldMk cId="1326040426" sldId="265"/>
            <ac:spMk id="21" creationId="{52822B2D-4CE5-1829-9B78-A03C874D48D6}"/>
          </ac:spMkLst>
        </pc:spChg>
        <pc:spChg chg="add mod">
          <ac:chgData name="Padam Sharma" userId="e775ba27198b4af2" providerId="LiveId" clId="{260CCAF2-7DE6-4477-A121-F9E6C6C3C701}" dt="2026-09-15T12:01:44.087" v="1585" actId="1076"/>
          <ac:spMkLst>
            <pc:docMk/>
            <pc:sldMk cId="1326040426" sldId="265"/>
            <ac:spMk id="28" creationId="{AC0E597A-357C-B3ED-ED53-4030C292EE28}"/>
          </ac:spMkLst>
        </pc:spChg>
        <pc:picChg chg="add del mod">
          <ac:chgData name="Padam Sharma" userId="e775ba27198b4af2" providerId="LiveId" clId="{260CCAF2-7DE6-4477-A121-F9E6C6C3C701}" dt="2026-09-15T08:15:58.771" v="555" actId="931"/>
          <ac:picMkLst>
            <pc:docMk/>
            <pc:sldMk cId="1326040426" sldId="265"/>
            <ac:picMk id="3" creationId="{A321B355-42AD-0602-B878-E58065AC37E3}"/>
          </ac:picMkLst>
        </pc:picChg>
        <pc:picChg chg="add mod">
          <ac:chgData name="Padam Sharma" userId="e775ba27198b4af2" providerId="LiveId" clId="{260CCAF2-7DE6-4477-A121-F9E6C6C3C701}" dt="2026-09-15T11:12:13.105" v="843" actId="13822"/>
          <ac:picMkLst>
            <pc:docMk/>
            <pc:sldMk cId="1326040426" sldId="265"/>
            <ac:picMk id="5" creationId="{A8FE076F-916E-D066-9DBE-972F630510DD}"/>
          </ac:picMkLst>
        </pc:picChg>
        <pc:picChg chg="add del mod">
          <ac:chgData name="Padam Sharma" userId="e775ba27198b4af2" providerId="LiveId" clId="{260CCAF2-7DE6-4477-A121-F9E6C6C3C701}" dt="2026-09-15T08:21:12.975" v="655" actId="478"/>
          <ac:picMkLst>
            <pc:docMk/>
            <pc:sldMk cId="1326040426" sldId="265"/>
            <ac:picMk id="10" creationId="{1CB35D06-6A27-4C52-E458-349343C2252A}"/>
          </ac:picMkLst>
        </pc:picChg>
        <pc:picChg chg="add mod">
          <ac:chgData name="Padam Sharma" userId="e775ba27198b4af2" providerId="LiveId" clId="{260CCAF2-7DE6-4477-A121-F9E6C6C3C701}" dt="2026-09-15T08:31:54.900" v="703" actId="207"/>
          <ac:picMkLst>
            <pc:docMk/>
            <pc:sldMk cId="1326040426" sldId="265"/>
            <ac:picMk id="12" creationId="{3E6017FA-7935-A19E-B104-2B99E2D752B9}"/>
          </ac:picMkLst>
        </pc:picChg>
        <pc:picChg chg="add del mod">
          <ac:chgData name="Padam Sharma" userId="e775ba27198b4af2" providerId="LiveId" clId="{260CCAF2-7DE6-4477-A121-F9E6C6C3C701}" dt="2026-09-15T10:48:19.117" v="805" actId="478"/>
          <ac:picMkLst>
            <pc:docMk/>
            <pc:sldMk cId="1326040426" sldId="265"/>
            <ac:picMk id="20" creationId="{76C288AF-AC5B-B538-33F2-E3533FC88C07}"/>
          </ac:picMkLst>
        </pc:picChg>
        <pc:picChg chg="add del mod">
          <ac:chgData name="Padam Sharma" userId="e775ba27198b4af2" providerId="LiveId" clId="{260CCAF2-7DE6-4477-A121-F9E6C6C3C701}" dt="2026-09-15T11:09:59.098" v="827" actId="478"/>
          <ac:picMkLst>
            <pc:docMk/>
            <pc:sldMk cId="1326040426" sldId="265"/>
            <ac:picMk id="23" creationId="{205B97FA-D9AB-62BB-73BD-0B7583BB501D}"/>
          </ac:picMkLst>
        </pc:picChg>
        <pc:picChg chg="add mod">
          <ac:chgData name="Padam Sharma" userId="e775ba27198b4af2" providerId="LiveId" clId="{260CCAF2-7DE6-4477-A121-F9E6C6C3C701}" dt="2026-09-15T11:09:47.894" v="824" actId="1076"/>
          <ac:picMkLst>
            <pc:docMk/>
            <pc:sldMk cId="1326040426" sldId="265"/>
            <ac:picMk id="24" creationId="{A9FAFC08-B597-7564-3C12-080091F145E4}"/>
          </ac:picMkLst>
        </pc:picChg>
        <pc:picChg chg="add del">
          <ac:chgData name="Padam Sharma" userId="e775ba27198b4af2" providerId="LiveId" clId="{260CCAF2-7DE6-4477-A121-F9E6C6C3C701}" dt="2026-09-15T11:10:23.497" v="830" actId="478"/>
          <ac:picMkLst>
            <pc:docMk/>
            <pc:sldMk cId="1326040426" sldId="265"/>
            <ac:picMk id="25" creationId="{7D2F7FF8-983D-6F10-6C2F-47190DA9C8B8}"/>
          </ac:picMkLst>
        </pc:picChg>
        <pc:picChg chg="add mod">
          <ac:chgData name="Padam Sharma" userId="e775ba27198b4af2" providerId="LiveId" clId="{260CCAF2-7DE6-4477-A121-F9E6C6C3C701}" dt="2026-09-15T11:11:35.657" v="841" actId="1076"/>
          <ac:picMkLst>
            <pc:docMk/>
            <pc:sldMk cId="1326040426" sldId="265"/>
            <ac:picMk id="26" creationId="{90794D28-8B5C-7D85-E449-F292DCF13CDE}"/>
          </ac:picMkLst>
        </pc:picChg>
      </pc:sldChg>
      <pc:sldChg chg="new del">
        <pc:chgData name="Padam Sharma" userId="e775ba27198b4af2" providerId="LiveId" clId="{260CCAF2-7DE6-4477-A121-F9E6C6C3C701}" dt="2026-09-15T06:27:28.111" v="511" actId="2696"/>
        <pc:sldMkLst>
          <pc:docMk/>
          <pc:sldMk cId="3424537717"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E0EC2E-8374-4AE0-8E87-F4B520EBD8C4}"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89548-F16E-4F9D-9DA7-C96DB66B1B76}" type="slidenum">
              <a:rPr lang="en-IN" smtClean="0"/>
              <a:t>‹#›</a:t>
            </a:fld>
            <a:endParaRPr lang="en-IN"/>
          </a:p>
        </p:txBody>
      </p:sp>
    </p:spTree>
    <p:extLst>
      <p:ext uri="{BB962C8B-B14F-4D97-AF65-F5344CB8AC3E}">
        <p14:creationId xmlns:p14="http://schemas.microsoft.com/office/powerpoint/2010/main" val="19645367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389548-F16E-4F9D-9DA7-C96DB66B1B76}" type="slidenum">
              <a:rPr lang="en-IN" smtClean="0"/>
              <a:t>2</a:t>
            </a:fld>
            <a:endParaRPr lang="en-IN"/>
          </a:p>
        </p:txBody>
      </p:sp>
    </p:spTree>
    <p:extLst>
      <p:ext uri="{BB962C8B-B14F-4D97-AF65-F5344CB8AC3E}">
        <p14:creationId xmlns:p14="http://schemas.microsoft.com/office/powerpoint/2010/main" val="52583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tripadvisor.in/HotelsNear-g304551-d34348859-Bharat_Mandapam-New_Delhi_National_Capital_Territory_of_Delhi.html" TargetMode="External"/><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8FE076F-916E-D066-9DBE-972F630510DD}"/>
              </a:ext>
            </a:extLst>
          </p:cNvPr>
          <p:cNvPicPr>
            <a:picLocks noChangeAspect="1"/>
          </p:cNvPicPr>
          <p:nvPr/>
        </p:nvPicPr>
        <p:blipFill>
          <a:blip r:embed="rId2"/>
          <a:stretch>
            <a:fillRect/>
          </a:stretch>
        </p:blipFill>
        <p:spPr>
          <a:xfrm>
            <a:off x="3176559" y="1319998"/>
            <a:ext cx="5838882" cy="3284372"/>
          </a:xfrm>
          <a:prstGeom prst="rect">
            <a:avLst/>
          </a:prstGeom>
        </p:spPr>
        <p:style>
          <a:lnRef idx="3">
            <a:schemeClr val="lt1"/>
          </a:lnRef>
          <a:fillRef idx="1">
            <a:schemeClr val="accent1"/>
          </a:fillRef>
          <a:effectRef idx="1">
            <a:schemeClr val="accent1"/>
          </a:effectRef>
          <a:fontRef idx="minor">
            <a:schemeClr val="lt1"/>
          </a:fontRef>
        </p:style>
      </p:pic>
      <p:sp>
        <p:nvSpPr>
          <p:cNvPr id="7" name="TextBox 6">
            <a:extLst>
              <a:ext uri="{FF2B5EF4-FFF2-40B4-BE49-F238E27FC236}">
                <a16:creationId xmlns:a16="http://schemas.microsoft.com/office/drawing/2014/main" id="{4CE7FF4F-54E8-E8B2-0333-4FD2E7556863}"/>
              </a:ext>
            </a:extLst>
          </p:cNvPr>
          <p:cNvSpPr txBox="1"/>
          <p:nvPr/>
        </p:nvSpPr>
        <p:spPr>
          <a:xfrm>
            <a:off x="491613" y="571363"/>
            <a:ext cx="11208774" cy="523220"/>
          </a:xfrm>
          <a:prstGeom prst="rect">
            <a:avLst/>
          </a:prstGeom>
          <a:noFill/>
        </p:spPr>
        <p:txBody>
          <a:bodyPr wrap="square">
            <a:spAutoFit/>
          </a:bodyPr>
          <a:lstStyle/>
          <a:p>
            <a:r>
              <a:rPr lang="en-IN" sz="28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India International Strategic Minerals Expo (</a:t>
            </a:r>
            <a:r>
              <a:rPr lang="en-IN" sz="2800" dirty="0" err="1">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IISMExpo</a:t>
            </a:r>
            <a:r>
              <a:rPr lang="en-IN" sz="2800" dirty="0">
                <a:solidFill>
                  <a:schemeClr val="accent5">
                    <a:lumMod val="50000"/>
                  </a:schemeClr>
                </a:solidFill>
                <a:latin typeface="ADLaM Display" panose="02010000000000000000" pitchFamily="2" charset="0"/>
                <a:ea typeface="ADLaM Display" panose="02010000000000000000" pitchFamily="2" charset="0"/>
                <a:cs typeface="ADLaM Display" panose="02010000000000000000" pitchFamily="2" charset="0"/>
              </a:rPr>
              <a:t>) - 2027</a:t>
            </a:r>
          </a:p>
        </p:txBody>
      </p:sp>
      <p:sp>
        <p:nvSpPr>
          <p:cNvPr id="9" name="TextBox 8">
            <a:extLst>
              <a:ext uri="{FF2B5EF4-FFF2-40B4-BE49-F238E27FC236}">
                <a16:creationId xmlns:a16="http://schemas.microsoft.com/office/drawing/2014/main" id="{5490DDBD-1E62-4473-56EE-0983E8C26A00}"/>
              </a:ext>
            </a:extLst>
          </p:cNvPr>
          <p:cNvSpPr txBox="1"/>
          <p:nvPr/>
        </p:nvSpPr>
        <p:spPr>
          <a:xfrm>
            <a:off x="594851" y="4829785"/>
            <a:ext cx="1779638" cy="369332"/>
          </a:xfrm>
          <a:prstGeom prst="rect">
            <a:avLst/>
          </a:prstGeom>
          <a:noFill/>
        </p:spPr>
        <p:txBody>
          <a:bodyPr wrap="square">
            <a:spAutoFit/>
          </a:bodyPr>
          <a:lstStyle/>
          <a:p>
            <a:r>
              <a:rPr lang="en-US" i="1" dirty="0"/>
              <a:t>O</a:t>
            </a:r>
            <a:r>
              <a:rPr lang="en-IN" i="1" dirty="0" err="1"/>
              <a:t>rganised</a:t>
            </a:r>
            <a:r>
              <a:rPr lang="en-IN" i="1" dirty="0"/>
              <a:t> by:</a:t>
            </a:r>
          </a:p>
        </p:txBody>
      </p:sp>
      <p:pic>
        <p:nvPicPr>
          <p:cNvPr id="12" name="Picture 11">
            <a:extLst>
              <a:ext uri="{FF2B5EF4-FFF2-40B4-BE49-F238E27FC236}">
                <a16:creationId xmlns:a16="http://schemas.microsoft.com/office/drawing/2014/main" id="{3E6017FA-7935-A19E-B104-2B99E2D752B9}"/>
              </a:ext>
            </a:extLst>
          </p:cNvPr>
          <p:cNvPicPr>
            <a:picLocks noChangeAspect="1"/>
          </p:cNvPicPr>
          <p:nvPr/>
        </p:nvPicPr>
        <p:blipFill>
          <a:blip r:embed="rId3"/>
          <a:stretch>
            <a:fillRect/>
          </a:stretch>
        </p:blipFill>
        <p:spPr>
          <a:xfrm>
            <a:off x="992135" y="5110627"/>
            <a:ext cx="985069" cy="856072"/>
          </a:xfrm>
          <a:prstGeom prst="rect">
            <a:avLst/>
          </a:prstGeom>
          <a:noFill/>
          <a:ln>
            <a:noFill/>
          </a:ln>
        </p:spPr>
      </p:pic>
      <p:sp>
        <p:nvSpPr>
          <p:cNvPr id="14" name="TextBox 13">
            <a:extLst>
              <a:ext uri="{FF2B5EF4-FFF2-40B4-BE49-F238E27FC236}">
                <a16:creationId xmlns:a16="http://schemas.microsoft.com/office/drawing/2014/main" id="{CD668014-A071-7A0F-4E22-E8771260079F}"/>
              </a:ext>
            </a:extLst>
          </p:cNvPr>
          <p:cNvSpPr txBox="1"/>
          <p:nvPr/>
        </p:nvSpPr>
        <p:spPr>
          <a:xfrm>
            <a:off x="285136" y="6101971"/>
            <a:ext cx="2399070" cy="369332"/>
          </a:xfrm>
          <a:prstGeom prst="rect">
            <a:avLst/>
          </a:prstGeom>
          <a:noFill/>
        </p:spPr>
        <p:txBody>
          <a:bodyPr wrap="square">
            <a:spAutoFit/>
          </a:bodyPr>
          <a:lstStyle/>
          <a:p>
            <a:r>
              <a:rPr lang="en-US" dirty="0">
                <a:solidFill>
                  <a:srgbClr val="FF0000"/>
                </a:solidFill>
                <a:latin typeface="Arial Black" panose="020B0A04020102020204" pitchFamily="34" charset="0"/>
              </a:rPr>
              <a:t>AMIGO</a:t>
            </a:r>
            <a:r>
              <a:rPr lang="en-US" dirty="0">
                <a:solidFill>
                  <a:schemeClr val="bg1">
                    <a:lumMod val="65000"/>
                  </a:schemeClr>
                </a:solidFill>
                <a:latin typeface="Arial Black" panose="020B0A04020102020204" pitchFamily="34" charset="0"/>
              </a:rPr>
              <a:t>CONNECT</a:t>
            </a:r>
            <a:endParaRPr lang="en-IN" sz="1800" dirty="0">
              <a:solidFill>
                <a:schemeClr val="bg1">
                  <a:lumMod val="65000"/>
                </a:schemeClr>
              </a:solidFill>
              <a:latin typeface="Arial Black" panose="020B0A04020102020204" pitchFamily="34" charset="0"/>
            </a:endParaRPr>
          </a:p>
        </p:txBody>
      </p:sp>
      <p:sp>
        <p:nvSpPr>
          <p:cNvPr id="18" name="TextBox 17">
            <a:extLst>
              <a:ext uri="{FF2B5EF4-FFF2-40B4-BE49-F238E27FC236}">
                <a16:creationId xmlns:a16="http://schemas.microsoft.com/office/drawing/2014/main" id="{DA4FBD29-B0C4-60EE-EBC7-E8891E40B039}"/>
              </a:ext>
            </a:extLst>
          </p:cNvPr>
          <p:cNvSpPr txBox="1"/>
          <p:nvPr/>
        </p:nvSpPr>
        <p:spPr>
          <a:xfrm>
            <a:off x="4739148" y="4829785"/>
            <a:ext cx="2084439" cy="369332"/>
          </a:xfrm>
          <a:prstGeom prst="rect">
            <a:avLst/>
          </a:prstGeom>
          <a:noFill/>
        </p:spPr>
        <p:txBody>
          <a:bodyPr wrap="square">
            <a:spAutoFit/>
          </a:bodyPr>
          <a:lstStyle/>
          <a:p>
            <a:r>
              <a:rPr lang="en-US" i="1" dirty="0"/>
              <a:t>Supported by</a:t>
            </a:r>
            <a:r>
              <a:rPr lang="en-IN" sz="1800" i="1" dirty="0"/>
              <a:t>:</a:t>
            </a:r>
          </a:p>
        </p:txBody>
      </p:sp>
      <p:pic>
        <p:nvPicPr>
          <p:cNvPr id="24" name="Picture 23" descr="Ministry of MSME takes various steps for promotion and development of MSME sector - India Education | Latest Education News | Global Educational News | Recent Educational News">
            <a:extLst>
              <a:ext uri="{FF2B5EF4-FFF2-40B4-BE49-F238E27FC236}">
                <a16:creationId xmlns:a16="http://schemas.microsoft.com/office/drawing/2014/main" id="{A9FAFC08-B597-7564-3C12-080091F145E4}"/>
              </a:ext>
            </a:extLst>
          </p:cNvPr>
          <p:cNvPicPr>
            <a:picLocks noChangeAspect="1"/>
          </p:cNvPicPr>
          <p:nvPr/>
        </p:nvPicPr>
        <p:blipFill>
          <a:blip r:embed="rId4"/>
          <a:stretch>
            <a:fillRect/>
          </a:stretch>
        </p:blipFill>
        <p:spPr>
          <a:xfrm>
            <a:off x="3081490" y="5248416"/>
            <a:ext cx="2506918" cy="1222887"/>
          </a:xfrm>
          <a:prstGeom prst="rect">
            <a:avLst/>
          </a:prstGeom>
        </p:spPr>
      </p:pic>
      <p:pic>
        <p:nvPicPr>
          <p:cNvPr id="26" name="Picture 25" descr="Ministry of Coal - Wikipedia">
            <a:extLst>
              <a:ext uri="{FF2B5EF4-FFF2-40B4-BE49-F238E27FC236}">
                <a16:creationId xmlns:a16="http://schemas.microsoft.com/office/drawing/2014/main" id="{90794D28-8B5C-7D85-E449-F292DCF13CDE}"/>
              </a:ext>
            </a:extLst>
          </p:cNvPr>
          <p:cNvPicPr>
            <a:picLocks noChangeAspect="1"/>
          </p:cNvPicPr>
          <p:nvPr/>
        </p:nvPicPr>
        <p:blipFill>
          <a:blip r:embed="rId5"/>
          <a:stretch>
            <a:fillRect/>
          </a:stretch>
        </p:blipFill>
        <p:spPr>
          <a:xfrm>
            <a:off x="5985692" y="5199117"/>
            <a:ext cx="2319673" cy="1139808"/>
          </a:xfrm>
          <a:prstGeom prst="rect">
            <a:avLst/>
          </a:prstGeom>
        </p:spPr>
      </p:pic>
      <p:sp>
        <p:nvSpPr>
          <p:cNvPr id="28" name="TextBox 27">
            <a:extLst>
              <a:ext uri="{FF2B5EF4-FFF2-40B4-BE49-F238E27FC236}">
                <a16:creationId xmlns:a16="http://schemas.microsoft.com/office/drawing/2014/main" id="{AC0E597A-357C-B3ED-ED53-4030C292EE28}"/>
              </a:ext>
            </a:extLst>
          </p:cNvPr>
          <p:cNvSpPr txBox="1"/>
          <p:nvPr/>
        </p:nvSpPr>
        <p:spPr>
          <a:xfrm>
            <a:off x="8702649" y="5991404"/>
            <a:ext cx="2937692"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extLst>
      <p:ext uri="{BB962C8B-B14F-4D97-AF65-F5344CB8AC3E}">
        <p14:creationId xmlns:p14="http://schemas.microsoft.com/office/powerpoint/2010/main" val="1326040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2" name="TextBox 1"/>
          <p:cNvSpPr txBox="1"/>
          <p:nvPr/>
        </p:nvSpPr>
        <p:spPr>
          <a:xfrm>
            <a:off x="313230" y="2159540"/>
            <a:ext cx="5782770" cy="5037276"/>
          </a:xfrm>
          <a:prstGeom prst="rect">
            <a:avLst/>
          </a:prstGeom>
          <a:noFill/>
        </p:spPr>
        <p:txBody>
          <a:bodyPr wrap="square">
            <a:spAutoFit/>
          </a:bodyPr>
          <a:lstStyle/>
          <a:p>
            <a:pPr>
              <a:spcBef>
                <a:spcPts val="4000"/>
              </a:spcBef>
              <a:defRPr sz="1400">
                <a:solidFill>
                  <a:srgbClr val="4B5563"/>
                </a:solidFill>
                <a:latin typeface="Arial"/>
              </a:defRPr>
            </a:pPr>
            <a:r>
              <a:rPr sz="2000" dirty="0">
                <a:solidFill>
                  <a:srgbClr val="FF0000"/>
                </a:solidFill>
              </a:rPr>
              <a:t>A B2B</a:t>
            </a:r>
            <a:r>
              <a:rPr lang="en-US" sz="2000" dirty="0">
                <a:solidFill>
                  <a:srgbClr val="FF0000"/>
                </a:solidFill>
              </a:rPr>
              <a:t>, G2B</a:t>
            </a:r>
            <a:r>
              <a:rPr sz="2000" dirty="0">
                <a:solidFill>
                  <a:srgbClr val="FF0000"/>
                </a:solidFill>
              </a:rPr>
              <a:t> Event Framework | National Critical Mineral Mission</a:t>
            </a:r>
            <a:endParaRPr lang="en-US" sz="2000" dirty="0">
              <a:solidFill>
                <a:srgbClr val="FF0000"/>
              </a:solidFill>
            </a:endParaRPr>
          </a:p>
          <a:p>
            <a:endParaRPr lang="en-IN" b="1" dirty="0">
              <a:solidFill>
                <a:schemeClr val="bg1"/>
              </a:solidFill>
            </a:endParaRPr>
          </a:p>
          <a:p>
            <a:pPr algn="just"/>
            <a:r>
              <a:rPr lang="en-IN" b="1" dirty="0">
                <a:solidFill>
                  <a:srgbClr val="FF0000"/>
                </a:solidFill>
              </a:rPr>
              <a:t>India Mining Rare Earth Mineral Exhibition  - 2027</a:t>
            </a:r>
            <a:r>
              <a:rPr lang="en-IN" dirty="0">
                <a:solidFill>
                  <a:srgbClr val="FF0000"/>
                </a:solidFill>
              </a:rPr>
              <a:t> </a:t>
            </a:r>
            <a:r>
              <a:rPr lang="en-IN" dirty="0">
                <a:solidFill>
                  <a:schemeClr val="bg1"/>
                </a:solidFill>
              </a:rPr>
              <a:t>is the definitive international platform for India's mining and mineral ecosystem.</a:t>
            </a:r>
          </a:p>
          <a:p>
            <a:pPr algn="just"/>
            <a:endParaRPr lang="en-IN" dirty="0">
              <a:solidFill>
                <a:schemeClr val="bg1"/>
              </a:solidFill>
            </a:endParaRPr>
          </a:p>
          <a:p>
            <a:pPr lvl="0" algn="just"/>
            <a:r>
              <a:rPr lang="en-IN" b="1" dirty="0">
                <a:solidFill>
                  <a:srgbClr val="FF0000"/>
                </a:solidFill>
              </a:rPr>
              <a:t>The Mission:</a:t>
            </a:r>
            <a:r>
              <a:rPr lang="en-IN" dirty="0">
                <a:solidFill>
                  <a:srgbClr val="FF0000"/>
                </a:solidFill>
              </a:rPr>
              <a:t> </a:t>
            </a:r>
          </a:p>
          <a:p>
            <a:pPr lvl="0" algn="just"/>
            <a:r>
              <a:rPr lang="en-IN" dirty="0">
                <a:solidFill>
                  <a:schemeClr val="bg1"/>
                </a:solidFill>
              </a:rPr>
              <a:t>Connect government, industry, finance, and technology to drive strategic, 21st-century mining priorities.</a:t>
            </a:r>
          </a:p>
          <a:p>
            <a:pPr lvl="0" algn="just"/>
            <a:endParaRPr lang="en-IN" dirty="0">
              <a:solidFill>
                <a:schemeClr val="bg1"/>
              </a:solidFill>
            </a:endParaRPr>
          </a:p>
          <a:p>
            <a:pPr lvl="0" algn="just"/>
            <a:r>
              <a:rPr lang="en-IN" b="1" dirty="0">
                <a:solidFill>
                  <a:srgbClr val="FF0000"/>
                </a:solidFill>
              </a:rPr>
              <a:t>The Scope:</a:t>
            </a:r>
            <a:r>
              <a:rPr lang="en-IN" dirty="0">
                <a:solidFill>
                  <a:srgbClr val="FF0000"/>
                </a:solidFill>
              </a:rPr>
              <a:t> </a:t>
            </a:r>
          </a:p>
          <a:p>
            <a:pPr lvl="0" algn="just"/>
            <a:r>
              <a:rPr lang="en-IN" dirty="0">
                <a:solidFill>
                  <a:schemeClr val="bg1"/>
                </a:solidFill>
              </a:rPr>
              <a:t>Cover the complete resource lifecycle—from exploration and processing to sustainable manufacturing, mine closure, and community transition.</a:t>
            </a:r>
          </a:p>
          <a:p>
            <a:pPr>
              <a:spcBef>
                <a:spcPts val="4000"/>
              </a:spcBef>
              <a:defRPr sz="1400">
                <a:solidFill>
                  <a:srgbClr val="4B5563"/>
                </a:solidFill>
                <a:latin typeface="Arial"/>
              </a:defRPr>
            </a:pPr>
            <a:endParaRPr dirty="0"/>
          </a:p>
        </p:txBody>
      </p:sp>
      <p:sp>
        <p:nvSpPr>
          <p:cNvPr id="7" name="TextBox 6">
            <a:extLst>
              <a:ext uri="{FF2B5EF4-FFF2-40B4-BE49-F238E27FC236}">
                <a16:creationId xmlns:a16="http://schemas.microsoft.com/office/drawing/2014/main" id="{1DBF6B8F-8C62-37B3-BFC5-86B8084EC5F2}"/>
              </a:ext>
            </a:extLst>
          </p:cNvPr>
          <p:cNvSpPr txBox="1"/>
          <p:nvPr/>
        </p:nvSpPr>
        <p:spPr>
          <a:xfrm>
            <a:off x="411952" y="559007"/>
            <a:ext cx="11719399" cy="2185214"/>
          </a:xfrm>
          <a:prstGeom prst="rect">
            <a:avLst/>
          </a:prstGeom>
          <a:noFill/>
        </p:spPr>
        <p:txBody>
          <a:bodyPr wrap="square">
            <a:spAutoFit/>
          </a:bodyPr>
          <a:lstStyle/>
          <a:p>
            <a:pPr>
              <a:defRPr sz="4800" b="1">
                <a:solidFill>
                  <a:srgbClr val="F3F4F6"/>
                </a:solidFill>
                <a:latin typeface="Arial"/>
              </a:defRPr>
            </a:pPr>
            <a:r>
              <a:rPr lang="en-IN" sz="3200" dirty="0">
                <a:solidFill>
                  <a:schemeClr val="bg1">
                    <a:lumMod val="95000"/>
                  </a:schemeClr>
                </a:solidFill>
              </a:rPr>
              <a:t>India International Strategic Minerals Expo (</a:t>
            </a:r>
            <a:r>
              <a:rPr lang="en-IN" sz="3200" dirty="0" err="1">
                <a:solidFill>
                  <a:schemeClr val="bg1">
                    <a:lumMod val="95000"/>
                  </a:schemeClr>
                </a:solidFill>
              </a:rPr>
              <a:t>IISMExpo</a:t>
            </a:r>
            <a:r>
              <a:rPr lang="en-IN" sz="3200" dirty="0">
                <a:solidFill>
                  <a:schemeClr val="bg1">
                    <a:lumMod val="95000"/>
                  </a:schemeClr>
                </a:solidFill>
              </a:rPr>
              <a:t> 2027)</a:t>
            </a:r>
          </a:p>
          <a:p>
            <a:pPr>
              <a:defRPr sz="4800" b="1">
                <a:solidFill>
                  <a:srgbClr val="F3F4F6"/>
                </a:solidFill>
                <a:latin typeface="Arial"/>
              </a:defRPr>
            </a:pPr>
            <a:endParaRPr lang="en-IN" sz="2800" dirty="0">
              <a:solidFill>
                <a:schemeClr val="tx2">
                  <a:lumMod val="60000"/>
                  <a:lumOff val="40000"/>
                </a:schemeClr>
              </a:solidFill>
            </a:endParaRPr>
          </a:p>
          <a:p>
            <a:pPr>
              <a:defRPr sz="4800" b="1">
                <a:solidFill>
                  <a:srgbClr val="F3F4F6"/>
                </a:solidFill>
                <a:latin typeface="Arial"/>
              </a:defRPr>
            </a:pPr>
            <a:r>
              <a:rPr lang="en-IN" sz="2800" dirty="0">
                <a:solidFill>
                  <a:schemeClr val="tx2">
                    <a:lumMod val="60000"/>
                    <a:lumOff val="40000"/>
                  </a:schemeClr>
                </a:solidFill>
              </a:rPr>
              <a:t>Blueprint for India's Critical Mineral Future</a:t>
            </a:r>
          </a:p>
          <a:p>
            <a:pPr>
              <a:defRPr sz="4800" b="1">
                <a:solidFill>
                  <a:srgbClr val="F3F4F6"/>
                </a:solidFill>
                <a:latin typeface="Arial"/>
              </a:defRPr>
            </a:pPr>
            <a:endParaRPr lang="en-IN" sz="4800" dirty="0"/>
          </a:p>
        </p:txBody>
      </p:sp>
      <p:pic>
        <p:nvPicPr>
          <p:cNvPr id="5" name="Picture 4">
            <a:extLst>
              <a:ext uri="{FF2B5EF4-FFF2-40B4-BE49-F238E27FC236}">
                <a16:creationId xmlns:a16="http://schemas.microsoft.com/office/drawing/2014/main" id="{EB375A22-0255-9CDD-1C53-94A6BF40F4E1}"/>
              </a:ext>
            </a:extLst>
          </p:cNvPr>
          <p:cNvPicPr>
            <a:picLocks noChangeAspect="1"/>
          </p:cNvPicPr>
          <p:nvPr/>
        </p:nvPicPr>
        <p:blipFill>
          <a:blip r:embed="rId3"/>
          <a:stretch>
            <a:fillRect/>
          </a:stretch>
        </p:blipFill>
        <p:spPr>
          <a:xfrm>
            <a:off x="6340151" y="3044757"/>
            <a:ext cx="5538619" cy="3122261"/>
          </a:xfrm>
          <a:prstGeom prst="rect">
            <a:avLst/>
          </a:prstGeom>
        </p:spPr>
      </p:pic>
      <p:sp>
        <p:nvSpPr>
          <p:cNvPr id="4" name="TextBox 3">
            <a:extLst>
              <a:ext uri="{FF2B5EF4-FFF2-40B4-BE49-F238E27FC236}">
                <a16:creationId xmlns:a16="http://schemas.microsoft.com/office/drawing/2014/main" id="{DF87A882-76AB-A101-5B4D-EF1284F3D1C3}"/>
              </a:ext>
            </a:extLst>
          </p:cNvPr>
          <p:cNvSpPr txBox="1"/>
          <p:nvPr/>
        </p:nvSpPr>
        <p:spPr>
          <a:xfrm>
            <a:off x="9083351" y="6298993"/>
            <a:ext cx="6096000"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698480" cy="553998"/>
          </a:xfrm>
          <a:prstGeom prst="rect">
            <a:avLst/>
          </a:prstGeom>
          <a:noFill/>
        </p:spPr>
        <p:txBody>
          <a:bodyPr wrap="square" lIns="0" tIns="0" rIns="0" bIns="0">
            <a:spAutoFit/>
          </a:bodyPr>
          <a:lstStyle/>
          <a:p>
            <a:pPr>
              <a:defRPr sz="3600" b="1">
                <a:solidFill>
                  <a:srgbClr val="1F2937"/>
                </a:solidFill>
                <a:latin typeface="Arial"/>
              </a:defRPr>
            </a:pPr>
            <a:r>
              <a:rPr dirty="0">
                <a:solidFill>
                  <a:srgbClr val="FF0000"/>
                </a:solidFill>
              </a:rPr>
              <a:t>Strategic Vision &amp; Objectives</a:t>
            </a:r>
          </a:p>
        </p:txBody>
      </p:sp>
      <p:sp>
        <p:nvSpPr>
          <p:cNvPr id="3" name="TextBox 2"/>
          <p:cNvSpPr txBox="1"/>
          <p:nvPr/>
        </p:nvSpPr>
        <p:spPr>
          <a:xfrm>
            <a:off x="731520" y="1645920"/>
            <a:ext cx="5120640" cy="4114800"/>
          </a:xfrm>
          <a:prstGeom prst="rect">
            <a:avLst/>
          </a:prstGeom>
          <a:noFill/>
        </p:spPr>
        <p:txBody>
          <a:bodyPr wrap="square">
            <a:spAutoFit/>
          </a:bodyPr>
          <a:lstStyle/>
          <a:p>
            <a:pPr>
              <a:defRPr sz="2000" b="1">
                <a:solidFill>
                  <a:srgbClr val="2563EB"/>
                </a:solidFill>
              </a:defRPr>
            </a:pPr>
            <a:r>
              <a:rPr dirty="0"/>
              <a:t>Why Now?</a:t>
            </a:r>
          </a:p>
          <a:p>
            <a:pPr>
              <a:spcBef>
                <a:spcPts val="1000"/>
              </a:spcBef>
              <a:defRPr sz="1500">
                <a:solidFill>
                  <a:srgbClr val="1F2937"/>
                </a:solidFill>
              </a:defRPr>
            </a:pPr>
            <a:r>
              <a:rPr dirty="0"/>
              <a:t>• Aligns with India's National Critical Mineral Mission &amp; Net-Zero targets.</a:t>
            </a:r>
          </a:p>
          <a:p>
            <a:pPr>
              <a:spcBef>
                <a:spcPts val="1000"/>
              </a:spcBef>
              <a:defRPr sz="1500">
                <a:solidFill>
                  <a:srgbClr val="1F2937"/>
                </a:solidFill>
              </a:defRPr>
            </a:pPr>
            <a:r>
              <a:rPr dirty="0"/>
              <a:t>• Secures supply chain resilience for high-tech industries and EV sectors.</a:t>
            </a:r>
          </a:p>
          <a:p>
            <a:pPr>
              <a:spcBef>
                <a:spcPts val="1000"/>
              </a:spcBef>
              <a:defRPr sz="1500">
                <a:solidFill>
                  <a:srgbClr val="1F2937"/>
                </a:solidFill>
              </a:defRPr>
            </a:pPr>
            <a:r>
              <a:rPr dirty="0"/>
              <a:t>• Promotes domestic exploration, refining, and urban mining innovations.</a:t>
            </a:r>
          </a:p>
        </p:txBody>
      </p:sp>
      <p:sp>
        <p:nvSpPr>
          <p:cNvPr id="4" name="TextBox 3"/>
          <p:cNvSpPr txBox="1"/>
          <p:nvPr/>
        </p:nvSpPr>
        <p:spPr>
          <a:xfrm>
            <a:off x="6309360" y="1645920"/>
            <a:ext cx="5120640" cy="1938992"/>
          </a:xfrm>
          <a:prstGeom prst="rect">
            <a:avLst/>
          </a:prstGeom>
          <a:noFill/>
        </p:spPr>
        <p:txBody>
          <a:bodyPr wrap="square">
            <a:spAutoFit/>
          </a:bodyPr>
          <a:lstStyle/>
          <a:p>
            <a:pPr>
              <a:defRPr sz="2000" b="1">
                <a:solidFill>
                  <a:srgbClr val="2563EB"/>
                </a:solidFill>
              </a:defRPr>
            </a:pPr>
            <a:r>
              <a:rPr dirty="0"/>
              <a:t>Key Event Goals</a:t>
            </a:r>
          </a:p>
          <a:p>
            <a:pPr>
              <a:spcBef>
                <a:spcPts val="1000"/>
              </a:spcBef>
              <a:defRPr sz="1500">
                <a:solidFill>
                  <a:srgbClr val="1F2937"/>
                </a:solidFill>
              </a:defRPr>
            </a:pPr>
            <a:r>
              <a:rPr dirty="0"/>
              <a:t>• Foster global tech transfer in REE exploration and processing.</a:t>
            </a:r>
          </a:p>
          <a:p>
            <a:pPr>
              <a:spcBef>
                <a:spcPts val="1000"/>
              </a:spcBef>
              <a:defRPr sz="1500">
                <a:solidFill>
                  <a:srgbClr val="1F2937"/>
                </a:solidFill>
              </a:defRPr>
            </a:pPr>
            <a:r>
              <a:rPr dirty="0"/>
              <a:t>• Attract foreign direct investment (FDI) and venture capital into mining.</a:t>
            </a:r>
          </a:p>
          <a:p>
            <a:pPr>
              <a:spcBef>
                <a:spcPts val="1000"/>
              </a:spcBef>
              <a:defRPr sz="1500">
                <a:solidFill>
                  <a:srgbClr val="1F2937"/>
                </a:solidFill>
              </a:defRPr>
            </a:pPr>
            <a:r>
              <a:rPr dirty="0"/>
              <a:t>• Create a unified B2B </a:t>
            </a:r>
            <a:r>
              <a:rPr lang="en-US" dirty="0"/>
              <a:t>G2B </a:t>
            </a:r>
            <a:r>
              <a:rPr dirty="0"/>
              <a:t>platform for policymakers, PSUs, and private buyers.</a:t>
            </a:r>
          </a:p>
        </p:txBody>
      </p:sp>
      <p:pic>
        <p:nvPicPr>
          <p:cNvPr id="6" name="Picture 5">
            <a:extLst>
              <a:ext uri="{FF2B5EF4-FFF2-40B4-BE49-F238E27FC236}">
                <a16:creationId xmlns:a16="http://schemas.microsoft.com/office/drawing/2014/main" id="{F01D13B8-6B36-5C8F-4FDB-98FC6FCDC230}"/>
              </a:ext>
            </a:extLst>
          </p:cNvPr>
          <p:cNvPicPr>
            <a:picLocks noChangeAspect="1"/>
          </p:cNvPicPr>
          <p:nvPr/>
        </p:nvPicPr>
        <p:blipFill>
          <a:blip r:embed="rId2"/>
          <a:stretch>
            <a:fillRect/>
          </a:stretch>
        </p:blipFill>
        <p:spPr>
          <a:xfrm>
            <a:off x="731520" y="3789159"/>
            <a:ext cx="4470832" cy="2514843"/>
          </a:xfrm>
          <a:prstGeom prst="rect">
            <a:avLst/>
          </a:prstGeom>
        </p:spPr>
      </p:pic>
      <p:pic>
        <p:nvPicPr>
          <p:cNvPr id="8" name="Picture 7">
            <a:extLst>
              <a:ext uri="{FF2B5EF4-FFF2-40B4-BE49-F238E27FC236}">
                <a16:creationId xmlns:a16="http://schemas.microsoft.com/office/drawing/2014/main" id="{C22BFEF7-1D94-8B0E-EFB8-B31A9C1E74C8}"/>
              </a:ext>
            </a:extLst>
          </p:cNvPr>
          <p:cNvPicPr>
            <a:picLocks noChangeAspect="1"/>
          </p:cNvPicPr>
          <p:nvPr/>
        </p:nvPicPr>
        <p:blipFill>
          <a:blip r:embed="rId3"/>
          <a:stretch>
            <a:fillRect/>
          </a:stretch>
        </p:blipFill>
        <p:spPr>
          <a:xfrm>
            <a:off x="5698390" y="3789159"/>
            <a:ext cx="1896910" cy="2514843"/>
          </a:xfrm>
          <a:prstGeom prst="rect">
            <a:avLst/>
          </a:prstGeom>
        </p:spPr>
      </p:pic>
      <p:pic>
        <p:nvPicPr>
          <p:cNvPr id="10" name="Picture 9">
            <a:extLst>
              <a:ext uri="{FF2B5EF4-FFF2-40B4-BE49-F238E27FC236}">
                <a16:creationId xmlns:a16="http://schemas.microsoft.com/office/drawing/2014/main" id="{11BC1EC8-1FE9-472D-D5B3-80F93D590DD7}"/>
              </a:ext>
            </a:extLst>
          </p:cNvPr>
          <p:cNvPicPr>
            <a:picLocks noChangeAspect="1"/>
          </p:cNvPicPr>
          <p:nvPr/>
        </p:nvPicPr>
        <p:blipFill>
          <a:blip r:embed="rId4"/>
          <a:stretch>
            <a:fillRect/>
          </a:stretch>
        </p:blipFill>
        <p:spPr>
          <a:xfrm>
            <a:off x="8091338" y="3787692"/>
            <a:ext cx="3657914" cy="2516310"/>
          </a:xfrm>
          <a:prstGeom prst="rect">
            <a:avLst/>
          </a:prstGeom>
        </p:spPr>
      </p:pic>
      <p:sp>
        <p:nvSpPr>
          <p:cNvPr id="7" name="TextBox 6">
            <a:extLst>
              <a:ext uri="{FF2B5EF4-FFF2-40B4-BE49-F238E27FC236}">
                <a16:creationId xmlns:a16="http://schemas.microsoft.com/office/drawing/2014/main" id="{08181BCD-C5E9-A82A-9039-03396EB7AAF4}"/>
              </a:ext>
            </a:extLst>
          </p:cNvPr>
          <p:cNvSpPr txBox="1"/>
          <p:nvPr/>
        </p:nvSpPr>
        <p:spPr>
          <a:xfrm>
            <a:off x="8957187" y="6345478"/>
            <a:ext cx="6096000"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DFD6BD-949F-733B-8036-BF6E8FB6A485}"/>
              </a:ext>
            </a:extLst>
          </p:cNvPr>
          <p:cNvSpPr txBox="1"/>
          <p:nvPr/>
        </p:nvSpPr>
        <p:spPr>
          <a:xfrm>
            <a:off x="304800" y="275303"/>
            <a:ext cx="11572567" cy="6678751"/>
          </a:xfrm>
          <a:prstGeom prst="rect">
            <a:avLst/>
          </a:prstGeom>
          <a:noFill/>
        </p:spPr>
        <p:txBody>
          <a:bodyPr wrap="square" rtlCol="0">
            <a:spAutoFit/>
          </a:bodyPr>
          <a:lstStyle/>
          <a:p>
            <a:r>
              <a:rPr lang="en-IN" sz="1400" b="1" dirty="0"/>
              <a:t>About the Event</a:t>
            </a:r>
          </a:p>
          <a:p>
            <a:r>
              <a:rPr lang="en-IN" sz="1400" b="1" dirty="0">
                <a:solidFill>
                  <a:schemeClr val="accent5">
                    <a:lumMod val="50000"/>
                  </a:schemeClr>
                </a:solidFill>
                <a:ea typeface="ADLaM Display" panose="02010000000000000000" pitchFamily="2" charset="0"/>
                <a:cs typeface="ADLaM Display" panose="02010000000000000000" pitchFamily="2" charset="0"/>
              </a:rPr>
              <a:t>India International Strategic Minerals Expo (</a:t>
            </a:r>
            <a:r>
              <a:rPr lang="en-IN" sz="1400" b="1" dirty="0" err="1">
                <a:solidFill>
                  <a:schemeClr val="accent5">
                    <a:lumMod val="50000"/>
                  </a:schemeClr>
                </a:solidFill>
                <a:ea typeface="ADLaM Display" panose="02010000000000000000" pitchFamily="2" charset="0"/>
                <a:cs typeface="ADLaM Display" panose="02010000000000000000" pitchFamily="2" charset="0"/>
              </a:rPr>
              <a:t>IISMExpo</a:t>
            </a:r>
            <a:r>
              <a:rPr lang="en-IN" sz="1400" b="1" dirty="0">
                <a:solidFill>
                  <a:schemeClr val="accent5">
                    <a:lumMod val="50000"/>
                  </a:schemeClr>
                </a:solidFill>
                <a:ea typeface="ADLaM Display" panose="02010000000000000000" pitchFamily="2" charset="0"/>
                <a:cs typeface="ADLaM Display" panose="02010000000000000000" pitchFamily="2" charset="0"/>
              </a:rPr>
              <a:t>) – 2027 </a:t>
            </a:r>
            <a:r>
              <a:rPr lang="en-IN" sz="1400" dirty="0"/>
              <a:t>is India’s premier international exhibition dedicated to critical minerals, commodities, investment, clean energy, and low-carbon technologies. Hosted in </a:t>
            </a:r>
            <a:r>
              <a:rPr lang="en-IN" sz="1400" b="1" dirty="0"/>
              <a:t>Bharat Mandapam</a:t>
            </a:r>
            <a:r>
              <a:rPr lang="en-IN" sz="1400" dirty="0"/>
              <a:t>, </a:t>
            </a:r>
            <a:r>
              <a:rPr lang="en-IN" sz="1400" b="1" dirty="0"/>
              <a:t>New Delhi</a:t>
            </a:r>
            <a:r>
              <a:rPr lang="en-IN" sz="1400" dirty="0"/>
              <a:t>, </a:t>
            </a:r>
            <a:r>
              <a:rPr lang="en-IN" sz="1400" b="1" dirty="0"/>
              <a:t>India</a:t>
            </a:r>
            <a:r>
              <a:rPr lang="en-IN" sz="1400" dirty="0"/>
              <a:t> this landmark event unites the entire mineral resources value chain to drive the future of energy transition.</a:t>
            </a:r>
          </a:p>
          <a:p>
            <a:r>
              <a:rPr lang="en-IN" sz="1400" b="1" dirty="0"/>
              <a:t>The Strategic Context</a:t>
            </a:r>
          </a:p>
          <a:p>
            <a:r>
              <a:rPr lang="en-IN" sz="1400" dirty="0"/>
              <a:t>As India accelerates toward its </a:t>
            </a:r>
            <a:r>
              <a:rPr lang="en-IN" sz="1400" b="1" dirty="0"/>
              <a:t>2070 net-zero target</a:t>
            </a:r>
            <a:r>
              <a:rPr lang="en-IN" sz="1400" dirty="0"/>
              <a:t>, the demand for essential minerals like lithium, nickel, cobalt, copper, graphite, and rare earth elements is skyrocketing. Facing tight domestic reserves and limited mining capacity, India is actively prioritising strategic stockpiling to safeguard industrial growth and ensure uninterrupted resource security.</a:t>
            </a:r>
          </a:p>
          <a:p>
            <a:r>
              <a:rPr lang="en-IN" sz="1400" b="1" dirty="0"/>
              <a:t>National Critical Mineral Mission (NCMM)</a:t>
            </a:r>
          </a:p>
          <a:p>
            <a:r>
              <a:rPr lang="en-IN" sz="1400" dirty="0"/>
              <a:t>To combat geopolitical supply risks and foster self-reliance, the Government of India has launched the </a:t>
            </a:r>
            <a:r>
              <a:rPr lang="en-IN" sz="1400" b="1" dirty="0"/>
              <a:t>National Critical Mineral Mission (NCMM)</a:t>
            </a:r>
            <a:r>
              <a:rPr lang="en-IN" sz="1400" dirty="0"/>
              <a:t>. Backed by a massive budget exceeding </a:t>
            </a:r>
            <a:r>
              <a:rPr lang="en-IN" sz="1400" b="1" dirty="0"/>
              <a:t>₹34,000 crores (USD 4 billion)</a:t>
            </a:r>
            <a:r>
              <a:rPr lang="en-IN" sz="1400" dirty="0"/>
              <a:t>, this strategy aims to build a resilient, globally competitive critical minerals ecosystem encompassing:</a:t>
            </a:r>
          </a:p>
          <a:p>
            <a:pPr marL="285750" lvl="0" indent="-285750">
              <a:buFont typeface="Arial" panose="020B0604020202020204" pitchFamily="34" charset="0"/>
              <a:buChar char="•"/>
            </a:pPr>
            <a:r>
              <a:rPr lang="en-IN" sz="1400" dirty="0"/>
              <a:t>Exploration &amp; Mining</a:t>
            </a:r>
          </a:p>
          <a:p>
            <a:pPr marL="285750" lvl="0" indent="-285750">
              <a:buFont typeface="Arial" panose="020B0604020202020204" pitchFamily="34" charset="0"/>
              <a:buChar char="•"/>
            </a:pPr>
            <a:r>
              <a:rPr lang="en-IN" sz="1400" dirty="0"/>
              <a:t>Beneficiation &amp; Processing</a:t>
            </a:r>
          </a:p>
          <a:p>
            <a:pPr marL="285750" lvl="0" indent="-285750">
              <a:buFont typeface="Arial" panose="020B0604020202020204" pitchFamily="34" charset="0"/>
              <a:buChar char="•"/>
            </a:pPr>
            <a:r>
              <a:rPr lang="en-IN" sz="1400" dirty="0"/>
              <a:t>Advanced Recycling &amp; Recovery</a:t>
            </a:r>
          </a:p>
          <a:p>
            <a:r>
              <a:rPr lang="en-IN" sz="1400" b="1" dirty="0"/>
              <a:t>The Pivotal Role of State Governments</a:t>
            </a:r>
          </a:p>
          <a:p>
            <a:r>
              <a:rPr lang="en-IN" sz="1400" dirty="0"/>
              <a:t>This exhibition spotlights state governments as the bedrock of India's processing capabilities. As the primary implementing agencies, states are instrumental in:</a:t>
            </a:r>
          </a:p>
          <a:p>
            <a:pPr marL="285750" lvl="0" indent="-285750">
              <a:buFont typeface="Arial" panose="020B0604020202020204" pitchFamily="34" charset="0"/>
              <a:buChar char="•"/>
            </a:pPr>
            <a:r>
              <a:rPr lang="en-IN" sz="1400" dirty="0"/>
              <a:t>Accelerating infrastructure development</a:t>
            </a:r>
          </a:p>
          <a:p>
            <a:pPr marL="285750" lvl="0" indent="-285750">
              <a:buFont typeface="Arial" panose="020B0604020202020204" pitchFamily="34" charset="0"/>
              <a:buChar char="•"/>
            </a:pPr>
            <a:r>
              <a:rPr lang="en-IN" sz="1400" dirty="0"/>
              <a:t>Streamlining regulatory frameworks</a:t>
            </a:r>
          </a:p>
          <a:p>
            <a:pPr marL="285750" lvl="0" indent="-285750">
              <a:buFont typeface="Arial" panose="020B0604020202020204" pitchFamily="34" charset="0"/>
              <a:buChar char="•"/>
            </a:pPr>
            <a:r>
              <a:rPr lang="en-IN" sz="1400" dirty="0"/>
              <a:t>Fostering industrial ecosystems for clean-energy manufacturing</a:t>
            </a:r>
          </a:p>
          <a:p>
            <a:r>
              <a:rPr lang="en-IN" sz="1400" b="1" dirty="0"/>
              <a:t>Who Will You Meet?</a:t>
            </a:r>
          </a:p>
          <a:p>
            <a:r>
              <a:rPr lang="en-IN" sz="1400" dirty="0"/>
              <a:t>The event will host </a:t>
            </a:r>
            <a:r>
              <a:rPr lang="en-IN" sz="1400" b="1" dirty="0"/>
              <a:t>500+ senior-level executives from 20+ countries</a:t>
            </a:r>
            <a:r>
              <a:rPr lang="en-IN" sz="1400" dirty="0"/>
              <a:t> for three days of exhibition, strategic dialogue, business matching, and high-level networking. Key participating groups include:</a:t>
            </a:r>
          </a:p>
          <a:p>
            <a:pPr marL="285750" lvl="0" indent="-285750">
              <a:buFont typeface="Arial" panose="020B0604020202020204" pitchFamily="34" charset="0"/>
              <a:buChar char="•"/>
            </a:pPr>
            <a:r>
              <a:rPr lang="en-IN" sz="1400" dirty="0"/>
              <a:t>Government delegations &amp; policymakers</a:t>
            </a:r>
          </a:p>
          <a:p>
            <a:pPr marL="285750" lvl="0" indent="-285750">
              <a:buFont typeface="Arial" panose="020B0604020202020204" pitchFamily="34" charset="0"/>
              <a:buChar char="•"/>
            </a:pPr>
            <a:r>
              <a:rPr lang="en-IN" sz="1400" dirty="0"/>
              <a:t>Global mining &amp; energy corporations</a:t>
            </a:r>
          </a:p>
          <a:p>
            <a:pPr marL="285750" lvl="0" indent="-285750">
              <a:buFont typeface="Arial" panose="020B0604020202020204" pitchFamily="34" charset="0"/>
              <a:buChar char="•"/>
            </a:pPr>
            <a:r>
              <a:rPr lang="en-IN" sz="1400" dirty="0"/>
              <a:t>Institutional investors &amp; commercial banks</a:t>
            </a:r>
          </a:p>
          <a:p>
            <a:pPr marL="285750" lvl="0" indent="-285750">
              <a:buFont typeface="Arial" panose="020B0604020202020204" pitchFamily="34" charset="0"/>
              <a:buChar char="•"/>
            </a:pPr>
            <a:r>
              <a:rPr lang="en-IN" sz="1400" dirty="0"/>
              <a:t>Cutting-edge technology providers</a:t>
            </a:r>
          </a:p>
          <a:p>
            <a:pPr marL="285750" lvl="0" indent="-285750">
              <a:buFont typeface="Arial" panose="020B0604020202020204" pitchFamily="34" charset="0"/>
              <a:buChar char="•"/>
            </a:pPr>
            <a:r>
              <a:rPr lang="en-IN" sz="1400" dirty="0"/>
              <a:t>Industry associations &amp; global stakeholders</a:t>
            </a:r>
          </a:p>
          <a:p>
            <a:br>
              <a:rPr lang="en-IN" sz="1100" dirty="0"/>
            </a:br>
            <a:endParaRPr lang="en-IN"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2314513" y="2498173"/>
            <a:ext cx="1736377" cy="553998"/>
          </a:xfrm>
          <a:prstGeom prst="rect">
            <a:avLst/>
          </a:prstGeom>
          <a:noFill/>
        </p:spPr>
        <p:txBody>
          <a:bodyPr wrap="square" lIns="0" tIns="0" rIns="0" bIns="0">
            <a:spAutoFit/>
          </a:bodyPr>
          <a:lstStyle/>
          <a:p>
            <a:pPr>
              <a:defRPr sz="3600" b="1">
                <a:solidFill>
                  <a:srgbClr val="1F2937"/>
                </a:solidFill>
                <a:latin typeface="Arial"/>
              </a:defRPr>
            </a:pPr>
            <a:r>
              <a:rPr dirty="0"/>
              <a:t>Venue</a:t>
            </a:r>
          </a:p>
        </p:txBody>
      </p:sp>
      <p:sp>
        <p:nvSpPr>
          <p:cNvPr id="3" name="TextBox 2"/>
          <p:cNvSpPr txBox="1"/>
          <p:nvPr/>
        </p:nvSpPr>
        <p:spPr>
          <a:xfrm>
            <a:off x="746760" y="3259723"/>
            <a:ext cx="10698480" cy="338554"/>
          </a:xfrm>
          <a:prstGeom prst="rect">
            <a:avLst/>
          </a:prstGeom>
          <a:noFill/>
        </p:spPr>
        <p:txBody>
          <a:bodyPr wrap="square">
            <a:spAutoFit/>
          </a:bodyPr>
          <a:lstStyle/>
          <a:p>
            <a:pPr>
              <a:defRPr sz="1600" b="1">
                <a:solidFill>
                  <a:srgbClr val="2563EB"/>
                </a:solidFill>
              </a:defRPr>
            </a:pPr>
            <a:r>
              <a:rPr dirty="0"/>
              <a:t>New Delhi | </a:t>
            </a:r>
            <a:r>
              <a:rPr lang="en-US" dirty="0"/>
              <a:t>Bharat Mandapam, </a:t>
            </a:r>
            <a:r>
              <a:rPr dirty="0"/>
              <a:t>Pragati Maidan</a:t>
            </a:r>
            <a:r>
              <a:rPr lang="en-IN" dirty="0"/>
              <a:t> (IECC)</a:t>
            </a:r>
            <a:endParaRPr dirty="0"/>
          </a:p>
        </p:txBody>
      </p:sp>
      <p:pic>
        <p:nvPicPr>
          <p:cNvPr id="7" name="Picture 6">
            <a:extLst>
              <a:ext uri="{FF2B5EF4-FFF2-40B4-BE49-F238E27FC236}">
                <a16:creationId xmlns:a16="http://schemas.microsoft.com/office/drawing/2014/main" id="{1D97F9A9-028E-1F6C-DA6E-B944E79BF718}"/>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193277" y="1022738"/>
            <a:ext cx="5411821" cy="4058866"/>
          </a:xfrm>
          <a:prstGeom prst="rect">
            <a:avLst/>
          </a:prstGeom>
        </p:spPr>
        <p:style>
          <a:lnRef idx="3">
            <a:schemeClr val="lt1"/>
          </a:lnRef>
          <a:fillRef idx="1">
            <a:schemeClr val="accent1"/>
          </a:fillRef>
          <a:effectRef idx="1">
            <a:schemeClr val="accent1"/>
          </a:effectRef>
          <a:fontRef idx="minor">
            <a:schemeClr val="lt1"/>
          </a:fontRef>
        </p:style>
      </p:pic>
      <p:sp>
        <p:nvSpPr>
          <p:cNvPr id="5" name="TextBox 4">
            <a:extLst>
              <a:ext uri="{FF2B5EF4-FFF2-40B4-BE49-F238E27FC236}">
                <a16:creationId xmlns:a16="http://schemas.microsoft.com/office/drawing/2014/main" id="{120BB8E9-F1ED-C455-58B8-BAAE437F5CF1}"/>
              </a:ext>
            </a:extLst>
          </p:cNvPr>
          <p:cNvSpPr txBox="1"/>
          <p:nvPr/>
        </p:nvSpPr>
        <p:spPr>
          <a:xfrm>
            <a:off x="8899187" y="6078483"/>
            <a:ext cx="3292813"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600750" y="552573"/>
            <a:ext cx="10844490" cy="553998"/>
          </a:xfrm>
          <a:prstGeom prst="rect">
            <a:avLst/>
          </a:prstGeom>
          <a:noFill/>
        </p:spPr>
        <p:txBody>
          <a:bodyPr wrap="square" lIns="0" tIns="0" rIns="0" bIns="0">
            <a:spAutoFit/>
          </a:bodyPr>
          <a:lstStyle/>
          <a:p>
            <a:pPr>
              <a:defRPr sz="3600" b="1">
                <a:solidFill>
                  <a:srgbClr val="1F2937"/>
                </a:solidFill>
                <a:latin typeface="Arial"/>
              </a:defRPr>
            </a:pPr>
            <a:r>
              <a:rPr lang="en-US" dirty="0"/>
              <a:t>Sectors </a:t>
            </a:r>
            <a:endParaRPr dirty="0"/>
          </a:p>
        </p:txBody>
      </p:sp>
      <p:sp>
        <p:nvSpPr>
          <p:cNvPr id="3" name="TextBox 2"/>
          <p:cNvSpPr txBox="1"/>
          <p:nvPr/>
        </p:nvSpPr>
        <p:spPr>
          <a:xfrm>
            <a:off x="600750" y="1171862"/>
            <a:ext cx="2702889" cy="877163"/>
          </a:xfrm>
          <a:prstGeom prst="rect">
            <a:avLst/>
          </a:prstGeom>
          <a:noFill/>
        </p:spPr>
        <p:txBody>
          <a:bodyPr wrap="square">
            <a:spAutoFit/>
          </a:bodyPr>
          <a:lstStyle/>
          <a:p>
            <a:pPr>
              <a:defRPr sz="1800" b="1">
                <a:solidFill>
                  <a:srgbClr val="2563EB"/>
                </a:solidFill>
              </a:defRPr>
            </a:pPr>
            <a:r>
              <a:rPr dirty="0"/>
              <a:t>Exploration &amp; Mining Tech</a:t>
            </a:r>
          </a:p>
          <a:p>
            <a:pPr>
              <a:spcBef>
                <a:spcPts val="600"/>
              </a:spcBef>
              <a:defRPr sz="1400">
                <a:solidFill>
                  <a:srgbClr val="1F2937"/>
                </a:solidFill>
              </a:defRPr>
            </a:pPr>
            <a:r>
              <a:rPr dirty="0"/>
              <a:t>AI mapping, advanced drilling rigs, deep-earth geophysical sensors.</a:t>
            </a:r>
          </a:p>
        </p:txBody>
      </p:sp>
      <p:sp>
        <p:nvSpPr>
          <p:cNvPr id="4" name="TextBox 3"/>
          <p:cNvSpPr txBox="1"/>
          <p:nvPr/>
        </p:nvSpPr>
        <p:spPr>
          <a:xfrm>
            <a:off x="3971498" y="1172331"/>
            <a:ext cx="2500096" cy="1092607"/>
          </a:xfrm>
          <a:prstGeom prst="rect">
            <a:avLst/>
          </a:prstGeom>
          <a:noFill/>
        </p:spPr>
        <p:txBody>
          <a:bodyPr wrap="square">
            <a:spAutoFit/>
          </a:bodyPr>
          <a:lstStyle/>
          <a:p>
            <a:pPr>
              <a:defRPr sz="1800" b="1">
                <a:solidFill>
                  <a:srgbClr val="2563EB"/>
                </a:solidFill>
              </a:defRPr>
            </a:pPr>
            <a:r>
              <a:rPr dirty="0"/>
              <a:t>Processing &amp; Metallurgy</a:t>
            </a:r>
          </a:p>
          <a:p>
            <a:pPr>
              <a:spcBef>
                <a:spcPts val="600"/>
              </a:spcBef>
              <a:defRPr sz="1400">
                <a:solidFill>
                  <a:srgbClr val="1F2937"/>
                </a:solidFill>
              </a:defRPr>
            </a:pPr>
            <a:r>
              <a:rPr dirty="0"/>
              <a:t>Chemical refining tech, pilot plant models, advanced metallurgy.</a:t>
            </a:r>
          </a:p>
        </p:txBody>
      </p:sp>
      <p:sp>
        <p:nvSpPr>
          <p:cNvPr id="5" name="TextBox 4"/>
          <p:cNvSpPr txBox="1"/>
          <p:nvPr/>
        </p:nvSpPr>
        <p:spPr>
          <a:xfrm>
            <a:off x="6620306" y="1171862"/>
            <a:ext cx="2307630" cy="1092607"/>
          </a:xfrm>
          <a:prstGeom prst="rect">
            <a:avLst/>
          </a:prstGeom>
          <a:noFill/>
        </p:spPr>
        <p:txBody>
          <a:bodyPr wrap="square">
            <a:spAutoFit/>
          </a:bodyPr>
          <a:lstStyle/>
          <a:p>
            <a:pPr>
              <a:defRPr sz="1800" b="1">
                <a:solidFill>
                  <a:srgbClr val="2563EB"/>
                </a:solidFill>
              </a:defRPr>
            </a:pPr>
            <a:r>
              <a:rPr dirty="0"/>
              <a:t>Strategic Applications</a:t>
            </a:r>
          </a:p>
          <a:p>
            <a:pPr>
              <a:spcBef>
                <a:spcPts val="600"/>
              </a:spcBef>
              <a:defRPr sz="1400">
                <a:solidFill>
                  <a:srgbClr val="1F2937"/>
                </a:solidFill>
              </a:defRPr>
            </a:pPr>
            <a:r>
              <a:rPr dirty="0"/>
              <a:t>Permanent magnets, EV motors, defense systems, aerospace tech.</a:t>
            </a:r>
          </a:p>
        </p:txBody>
      </p:sp>
      <p:sp>
        <p:nvSpPr>
          <p:cNvPr id="6" name="TextBox 5"/>
          <p:cNvSpPr txBox="1"/>
          <p:nvPr/>
        </p:nvSpPr>
        <p:spPr>
          <a:xfrm>
            <a:off x="9225361" y="1172331"/>
            <a:ext cx="1826342" cy="1092607"/>
          </a:xfrm>
          <a:prstGeom prst="rect">
            <a:avLst/>
          </a:prstGeom>
          <a:noFill/>
        </p:spPr>
        <p:txBody>
          <a:bodyPr wrap="square">
            <a:spAutoFit/>
          </a:bodyPr>
          <a:lstStyle/>
          <a:p>
            <a:pPr>
              <a:defRPr sz="1800" b="1">
                <a:solidFill>
                  <a:srgbClr val="2563EB"/>
                </a:solidFill>
              </a:defRPr>
            </a:pPr>
            <a:r>
              <a:rPr dirty="0"/>
              <a:t>Circular Economy</a:t>
            </a:r>
          </a:p>
          <a:p>
            <a:pPr>
              <a:spcBef>
                <a:spcPts val="600"/>
              </a:spcBef>
              <a:defRPr sz="1400">
                <a:solidFill>
                  <a:srgbClr val="1F2937"/>
                </a:solidFill>
              </a:defRPr>
            </a:pPr>
            <a:r>
              <a:rPr dirty="0"/>
              <a:t>E-waste urban mining, recycling tech, battery recovery systems.</a:t>
            </a:r>
          </a:p>
        </p:txBody>
      </p:sp>
      <p:sp>
        <p:nvSpPr>
          <p:cNvPr id="8" name="TextBox 7">
            <a:extLst>
              <a:ext uri="{FF2B5EF4-FFF2-40B4-BE49-F238E27FC236}">
                <a16:creationId xmlns:a16="http://schemas.microsoft.com/office/drawing/2014/main" id="{8C6FB43D-DCB2-679F-F2A8-D7B86C3E76C5}"/>
              </a:ext>
            </a:extLst>
          </p:cNvPr>
          <p:cNvSpPr txBox="1"/>
          <p:nvPr/>
        </p:nvSpPr>
        <p:spPr>
          <a:xfrm>
            <a:off x="449949" y="2264469"/>
            <a:ext cx="11407753" cy="4924425"/>
          </a:xfrm>
          <a:prstGeom prst="rect">
            <a:avLst/>
          </a:prstGeom>
          <a:noFill/>
        </p:spPr>
        <p:txBody>
          <a:bodyPr wrap="square">
            <a:spAutoFit/>
          </a:bodyPr>
          <a:lstStyle/>
          <a:p>
            <a:r>
              <a:rPr lang="en-IN" b="1" dirty="0"/>
              <a:t>1.Exploration &amp; Extraction</a:t>
            </a:r>
          </a:p>
          <a:p>
            <a:r>
              <a:rPr lang="en-IN" sz="1100" dirty="0"/>
              <a:t>This sector focuses on finding and pulling resources out of the ground.</a:t>
            </a:r>
          </a:p>
          <a:p>
            <a:pPr lvl="0"/>
            <a:r>
              <a:rPr lang="en-IN" sz="1100" b="1" dirty="0"/>
              <a:t>Geological Exploration &amp; Surveying:</a:t>
            </a:r>
            <a:r>
              <a:rPr lang="en-IN" sz="1100" dirty="0"/>
              <a:t> Companies specializing in remote sensing, core drilling, and geochemical mapping to locate mineral deposits.</a:t>
            </a:r>
          </a:p>
          <a:p>
            <a:pPr lvl="0"/>
            <a:r>
              <a:rPr lang="en-IN" sz="1100" b="1" dirty="0"/>
              <a:t>Mining Operations:</a:t>
            </a:r>
            <a:r>
              <a:rPr lang="en-IN" sz="1100" dirty="0"/>
              <a:t> Open-pit and underground mining operations extracting raw ores (e.g., bastnäsite and monazite for rare earths, chalcopyrite for copper).</a:t>
            </a:r>
          </a:p>
          <a:p>
            <a:pPr lvl="0"/>
            <a:r>
              <a:rPr lang="en-IN" sz="1100" b="1" dirty="0"/>
              <a:t>Mining Equipment &amp; Machinery:</a:t>
            </a:r>
            <a:r>
              <a:rPr lang="en-IN" sz="1100" dirty="0"/>
              <a:t> Manufacturers of heavy earthmovers, drill rigs, crushing units, and automated mining systems like Caterpillar Mining.</a:t>
            </a:r>
          </a:p>
          <a:p>
            <a:r>
              <a:rPr lang="en-IN" b="1" dirty="0"/>
              <a:t>2.Processing &amp; Refining</a:t>
            </a:r>
          </a:p>
          <a:p>
            <a:r>
              <a:rPr lang="en-IN" sz="1100" dirty="0"/>
              <a:t>Raw ore is virtually useless without intensive chemical and metallurgical processing to isolate pure metals.</a:t>
            </a:r>
          </a:p>
          <a:p>
            <a:pPr lvl="0"/>
            <a:r>
              <a:rPr lang="en-IN" sz="1100" b="1" dirty="0"/>
              <a:t>Beneficiation &amp; Concentration:</a:t>
            </a:r>
            <a:r>
              <a:rPr lang="en-IN" sz="1100" dirty="0"/>
              <a:t> Crushing, grinding, and froth flotation sectors that separate valuable mineral grains from waste rock (gangue).</a:t>
            </a:r>
          </a:p>
          <a:p>
            <a:pPr lvl="0"/>
            <a:r>
              <a:rPr lang="en-IN" sz="1100" b="1" dirty="0"/>
              <a:t>Chemical Cracking &amp; Hydrometallurgy:</a:t>
            </a:r>
            <a:r>
              <a:rPr lang="en-IN" sz="1100" dirty="0"/>
              <a:t> Acid leaching and solvent extraction plants specifically designed to separate individual Rare Earth Elements (REEs) like Neodymium, Dysprosium, and Praseodymium, which are chemically very similar and notoriously difficult to isolate.</a:t>
            </a:r>
          </a:p>
          <a:p>
            <a:pPr lvl="0"/>
            <a:r>
              <a:rPr lang="en-IN" sz="1100" b="1" dirty="0"/>
              <a:t>Smelting &amp; Alloying:</a:t>
            </a:r>
            <a:r>
              <a:rPr lang="en-IN" sz="1100" dirty="0"/>
              <a:t> Converting purified mineral concentrates into industrial metals and master alloys.</a:t>
            </a:r>
          </a:p>
          <a:p>
            <a:r>
              <a:rPr lang="en-IN" b="1" dirty="0"/>
              <a:t>3.Advanced Manufacturing</a:t>
            </a:r>
          </a:p>
          <a:p>
            <a:r>
              <a:rPr lang="en-IN" sz="1100" dirty="0"/>
              <a:t>This sector transforms processed minerals into the high-tech components that drive the modern economy.</a:t>
            </a:r>
          </a:p>
          <a:p>
            <a:pPr lvl="0"/>
            <a:r>
              <a:rPr lang="en-IN" sz="1100" b="1" dirty="0"/>
              <a:t>Permanent Magnet Manufacturing:</a:t>
            </a:r>
            <a:r>
              <a:rPr lang="en-IN" sz="1100" dirty="0"/>
              <a:t> The largest sector for critical rare earths. Purified Neodymium-Iron-Boron (NdFeB) magnets are essential for Electric Vehicle (EV) drivetrains and wind turbine generators.</a:t>
            </a:r>
          </a:p>
          <a:p>
            <a:pPr lvl="0"/>
            <a:r>
              <a:rPr lang="en-IN" sz="1100" b="1" dirty="0"/>
              <a:t>Clean Energy &amp; Battery Storage:</a:t>
            </a:r>
            <a:r>
              <a:rPr lang="en-IN" sz="1100" dirty="0"/>
              <a:t> Production of lithium-ion batteries, fuel cells, and solar photovoltaics using cobalt, nickel, lithium, and copper.</a:t>
            </a:r>
          </a:p>
          <a:p>
            <a:pPr lvl="0"/>
            <a:r>
              <a:rPr lang="en-IN" sz="1100" b="1" dirty="0"/>
              <a:t>Defence &amp; Aerospace Technologies:</a:t>
            </a:r>
            <a:r>
              <a:rPr lang="en-IN" sz="1100" dirty="0"/>
              <a:t> Sectors utilizing rare earths and specialty titanium/nickel alloys for jet engines, missile guidance systems, satellites, and night-vision optics.</a:t>
            </a:r>
          </a:p>
          <a:p>
            <a:pPr lvl="0"/>
            <a:r>
              <a:rPr lang="en-IN" sz="1100" b="1" dirty="0"/>
              <a:t>Electronics &amp; Semiconductors:</a:t>
            </a:r>
            <a:r>
              <a:rPr lang="en-IN" sz="1100" dirty="0"/>
              <a:t> Utilization of critical minerals for polishing silicon wafers, creating micro capacitors, and manufacturing displays (using europium and yttrium for phosphors).</a:t>
            </a:r>
          </a:p>
          <a:p>
            <a:r>
              <a:rPr lang="en-IN" b="1" dirty="0"/>
              <a:t>4. Cross-Cutting &amp; Support Sectors</a:t>
            </a:r>
          </a:p>
          <a:p>
            <a:pPr lvl="0"/>
            <a:r>
              <a:rPr lang="en-IN" sz="1100" b="1" dirty="0"/>
              <a:t>Mineral Recycling &amp; Circular Economy:</a:t>
            </a:r>
            <a:r>
              <a:rPr lang="en-IN" sz="1100" dirty="0"/>
              <a:t> E-waste and battery recycling sectors focused on urban mining to recover secondary rare earths, copper, and cobalt.</a:t>
            </a:r>
          </a:p>
          <a:p>
            <a:pPr lvl="0"/>
            <a:r>
              <a:rPr lang="en-IN" sz="1100" b="1" dirty="0"/>
              <a:t>Environmental &amp; Waste Management:</a:t>
            </a:r>
            <a:r>
              <a:rPr lang="en-IN" sz="1100" dirty="0"/>
              <a:t> Companies managing tailings ponds, acid mine drainage mitigation, and sustainable mine closures.</a:t>
            </a:r>
          </a:p>
          <a:p>
            <a:pPr lvl="0"/>
            <a:r>
              <a:rPr lang="en-IN" sz="1100" b="1" dirty="0"/>
              <a:t>Commodity Trading &amp; Investment:</a:t>
            </a:r>
            <a:r>
              <a:rPr lang="en-IN" sz="1100" dirty="0"/>
              <a:t> Financial institutions, metal exchanges, and venture capital firms funding resource exploration and strategic stockpiling.</a:t>
            </a:r>
          </a:p>
          <a:p>
            <a:br>
              <a:rPr lang="en-IN" sz="1100" dirty="0"/>
            </a:br>
            <a:endParaRPr lang="en-IN" sz="1100" dirty="0"/>
          </a:p>
          <a:p>
            <a:br>
              <a:rPr lang="en-IN" sz="1100" dirty="0"/>
            </a:br>
            <a:endParaRPr lang="en-IN"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698480" cy="914400"/>
          </a:xfrm>
          <a:prstGeom prst="rect">
            <a:avLst/>
          </a:prstGeom>
          <a:noFill/>
        </p:spPr>
        <p:txBody>
          <a:bodyPr wrap="square" lIns="0" tIns="0" rIns="0" bIns="0">
            <a:spAutoFit/>
          </a:bodyPr>
          <a:lstStyle/>
          <a:p>
            <a:pPr>
              <a:defRPr sz="3600" b="1">
                <a:solidFill>
                  <a:srgbClr val="1F2937"/>
                </a:solidFill>
                <a:latin typeface="Arial"/>
              </a:defRPr>
            </a:pPr>
            <a:r>
              <a:t>Target Audience &amp; Ecosystem Mapping</a:t>
            </a:r>
          </a:p>
        </p:txBody>
      </p:sp>
      <p:sp>
        <p:nvSpPr>
          <p:cNvPr id="3" name="TextBox 2"/>
          <p:cNvSpPr txBox="1"/>
          <p:nvPr/>
        </p:nvSpPr>
        <p:spPr>
          <a:xfrm>
            <a:off x="762000" y="1203468"/>
            <a:ext cx="5120640" cy="4114800"/>
          </a:xfrm>
          <a:prstGeom prst="rect">
            <a:avLst/>
          </a:prstGeom>
          <a:noFill/>
        </p:spPr>
        <p:txBody>
          <a:bodyPr wrap="square">
            <a:spAutoFit/>
          </a:bodyPr>
          <a:lstStyle/>
          <a:p>
            <a:pPr>
              <a:defRPr sz="1800" b="1">
                <a:solidFill>
                  <a:srgbClr val="2563EB"/>
                </a:solidFill>
              </a:defRPr>
            </a:pPr>
            <a:r>
              <a:rPr dirty="0"/>
              <a:t>Exhibitor Profiles</a:t>
            </a:r>
          </a:p>
          <a:p>
            <a:pPr>
              <a:spcBef>
                <a:spcPts val="800"/>
              </a:spcBef>
              <a:defRPr sz="1400">
                <a:solidFill>
                  <a:srgbClr val="1F2937"/>
                </a:solidFill>
              </a:defRPr>
            </a:pPr>
            <a:r>
              <a:rPr dirty="0"/>
              <a:t>• Global Mining Technology Providers</a:t>
            </a:r>
          </a:p>
          <a:p>
            <a:pPr>
              <a:spcBef>
                <a:spcPts val="800"/>
              </a:spcBef>
              <a:defRPr sz="1400">
                <a:solidFill>
                  <a:srgbClr val="1F2937"/>
                </a:solidFill>
              </a:defRPr>
            </a:pPr>
            <a:r>
              <a:rPr dirty="0"/>
              <a:t>• Heavy Machinery &amp; Refining Equippers</a:t>
            </a:r>
          </a:p>
          <a:p>
            <a:pPr>
              <a:spcBef>
                <a:spcPts val="800"/>
              </a:spcBef>
              <a:defRPr sz="1400">
                <a:solidFill>
                  <a:srgbClr val="1F2937"/>
                </a:solidFill>
              </a:defRPr>
            </a:pPr>
            <a:r>
              <a:rPr dirty="0"/>
              <a:t>• Geological &amp; Software Engineering Firms</a:t>
            </a:r>
          </a:p>
          <a:p>
            <a:pPr>
              <a:spcBef>
                <a:spcPts val="800"/>
              </a:spcBef>
              <a:defRPr sz="1400">
                <a:solidFill>
                  <a:srgbClr val="1F2937"/>
                </a:solidFill>
              </a:defRPr>
            </a:pPr>
            <a:r>
              <a:rPr dirty="0"/>
              <a:t>• E-Waste Processing Innovators</a:t>
            </a:r>
          </a:p>
        </p:txBody>
      </p:sp>
      <p:sp>
        <p:nvSpPr>
          <p:cNvPr id="4" name="TextBox 3"/>
          <p:cNvSpPr txBox="1"/>
          <p:nvPr/>
        </p:nvSpPr>
        <p:spPr>
          <a:xfrm>
            <a:off x="8869680" y="6208088"/>
            <a:ext cx="5120640" cy="369332"/>
          </a:xfrm>
          <a:prstGeom prst="rect">
            <a:avLst/>
          </a:prstGeom>
          <a:noFill/>
        </p:spPr>
        <p:txBody>
          <a:bodyPr wrap="square">
            <a:spAutoFit/>
          </a:bodyPr>
          <a:lstStyle/>
          <a:p>
            <a:r>
              <a:rPr lang="en-IN">
                <a:solidFill>
                  <a:schemeClr val="tx2">
                    <a:lumMod val="60000"/>
                    <a:lumOff val="40000"/>
                  </a:schemeClr>
                </a:solidFill>
              </a:rPr>
              <a:t>Website: www.iismexpo.Com</a:t>
            </a:r>
            <a:endParaRPr lang="en-IN" dirty="0">
              <a:solidFill>
                <a:schemeClr val="tx2">
                  <a:lumMod val="60000"/>
                  <a:lumOff val="4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731520" y="548640"/>
            <a:ext cx="10698480" cy="861774"/>
          </a:xfrm>
          <a:prstGeom prst="rect">
            <a:avLst/>
          </a:prstGeom>
          <a:noFill/>
        </p:spPr>
        <p:txBody>
          <a:bodyPr wrap="square" lIns="0" tIns="0" rIns="0" bIns="0">
            <a:spAutoFit/>
          </a:bodyPr>
          <a:lstStyle/>
          <a:p>
            <a:pPr>
              <a:defRPr sz="3600" b="1">
                <a:solidFill>
                  <a:srgbClr val="1F2937"/>
                </a:solidFill>
                <a:latin typeface="Arial"/>
              </a:defRPr>
            </a:pPr>
            <a:r>
              <a:rPr dirty="0">
                <a:solidFill>
                  <a:schemeClr val="tx2">
                    <a:lumMod val="75000"/>
                  </a:schemeClr>
                </a:solidFill>
              </a:rPr>
              <a:t>Conference Agenda</a:t>
            </a:r>
            <a:r>
              <a:rPr lang="en-US" dirty="0">
                <a:solidFill>
                  <a:schemeClr val="tx2">
                    <a:lumMod val="75000"/>
                  </a:schemeClr>
                </a:solidFill>
              </a:rPr>
              <a:t>:</a:t>
            </a:r>
          </a:p>
          <a:p>
            <a:pPr>
              <a:defRPr sz="3600" b="1">
                <a:solidFill>
                  <a:srgbClr val="1F2937"/>
                </a:solidFill>
                <a:latin typeface="Arial"/>
              </a:defRPr>
            </a:pPr>
            <a:r>
              <a:rPr lang="en-US" sz="2000" dirty="0">
                <a:solidFill>
                  <a:schemeClr val="tx2">
                    <a:lumMod val="60000"/>
                    <a:lumOff val="40000"/>
                  </a:schemeClr>
                </a:solidFill>
              </a:rPr>
              <a:t>Location: Bharat Mandapam, New Delhi</a:t>
            </a:r>
            <a:endParaRPr sz="2000" dirty="0">
              <a:solidFill>
                <a:schemeClr val="tx2">
                  <a:lumMod val="60000"/>
                  <a:lumOff val="40000"/>
                </a:schemeClr>
              </a:solidFill>
            </a:endParaRPr>
          </a:p>
        </p:txBody>
      </p:sp>
      <p:sp>
        <p:nvSpPr>
          <p:cNvPr id="3" name="TextBox 2"/>
          <p:cNvSpPr txBox="1"/>
          <p:nvPr/>
        </p:nvSpPr>
        <p:spPr>
          <a:xfrm>
            <a:off x="731520" y="1645920"/>
            <a:ext cx="10698480" cy="3539430"/>
          </a:xfrm>
          <a:prstGeom prst="rect">
            <a:avLst/>
          </a:prstGeom>
          <a:noFill/>
        </p:spPr>
        <p:txBody>
          <a:bodyPr wrap="square">
            <a:spAutoFit/>
          </a:bodyPr>
          <a:lstStyle/>
          <a:p>
            <a:pPr>
              <a:spcBef>
                <a:spcPts val="400"/>
              </a:spcBef>
              <a:defRPr sz="1400">
                <a:solidFill>
                  <a:srgbClr val="4B5563"/>
                </a:solidFill>
              </a:defRPr>
            </a:pPr>
            <a:r>
              <a:rPr lang="en-IN" sz="2000" b="1" dirty="0">
                <a:solidFill>
                  <a:schemeClr val="tx2">
                    <a:lumMod val="75000"/>
                  </a:schemeClr>
                </a:solidFill>
              </a:rPr>
              <a:t>Day 1:</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Bidding &amp; Block Allocation</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Supply Chain De-risking</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Sustainable 'Green' Mining</a:t>
            </a:r>
          </a:p>
          <a:p>
            <a:pPr>
              <a:spcBef>
                <a:spcPts val="400"/>
              </a:spcBef>
              <a:defRPr sz="1400">
                <a:solidFill>
                  <a:srgbClr val="4B5563"/>
                </a:solidFill>
              </a:defRPr>
            </a:pPr>
            <a:r>
              <a:rPr lang="en-IN" sz="2000" b="1" dirty="0">
                <a:solidFill>
                  <a:schemeClr val="tx2">
                    <a:lumMod val="75000"/>
                  </a:schemeClr>
                </a:solidFill>
              </a:rPr>
              <a:t>Day 2:</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Policy, Investment &amp; Global Trade.</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Exploration, Technology &amp; Processing </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Clean Energy &amp; Low-Carbon Integration</a:t>
            </a:r>
          </a:p>
          <a:p>
            <a:pPr marL="514350" indent="-514350">
              <a:spcBef>
                <a:spcPts val="400"/>
              </a:spcBef>
              <a:buFont typeface="+mj-lt"/>
              <a:buAutoNum type="romanUcPeriod"/>
              <a:defRPr sz="1400">
                <a:solidFill>
                  <a:srgbClr val="4B5563"/>
                </a:solidFill>
              </a:defRPr>
            </a:pPr>
            <a:r>
              <a:rPr lang="en-IN" sz="2000" dirty="0">
                <a:solidFill>
                  <a:schemeClr val="tx2">
                    <a:lumMod val="60000"/>
                    <a:lumOff val="40000"/>
                  </a:schemeClr>
                </a:solidFill>
              </a:rPr>
              <a:t>Downstream Manufacturing &amp; Recycling</a:t>
            </a:r>
          </a:p>
          <a:p>
            <a:pPr>
              <a:spcBef>
                <a:spcPts val="400"/>
              </a:spcBef>
              <a:defRPr sz="1400">
                <a:solidFill>
                  <a:srgbClr val="4B5563"/>
                </a:solidFill>
              </a:defRPr>
            </a:pPr>
            <a:endParaRPr dirty="0"/>
          </a:p>
        </p:txBody>
      </p:sp>
      <p:pic>
        <p:nvPicPr>
          <p:cNvPr id="9" name="Picture 8" descr="Bharat Mandapam India Trade Promotion Organisation (ITPO), New Delhi — Events">
            <a:extLst>
              <a:ext uri="{FF2B5EF4-FFF2-40B4-BE49-F238E27FC236}">
                <a16:creationId xmlns:a16="http://schemas.microsoft.com/office/drawing/2014/main" id="{A46C6094-7366-5982-800E-6D365D264AAB}"/>
              </a:ext>
            </a:extLst>
          </p:cNvPr>
          <p:cNvPicPr>
            <a:picLocks noChangeAspect="1"/>
          </p:cNvPicPr>
          <p:nvPr/>
        </p:nvPicPr>
        <p:blipFill>
          <a:blip r:embed="rId2"/>
          <a:stretch>
            <a:fillRect/>
          </a:stretch>
        </p:blipFill>
        <p:spPr>
          <a:xfrm>
            <a:off x="7239000" y="626715"/>
            <a:ext cx="4191000" cy="2788920"/>
          </a:xfrm>
          <a:prstGeom prst="rect">
            <a:avLst/>
          </a:prstGeom>
        </p:spPr>
      </p:pic>
      <p:pic>
        <p:nvPicPr>
          <p:cNvPr id="10" name="Picture 9" descr="Bharat Mandapam - Banquet Hall &amp; Wedding Venue in Pragati Maidan">
            <a:extLst>
              <a:ext uri="{FF2B5EF4-FFF2-40B4-BE49-F238E27FC236}">
                <a16:creationId xmlns:a16="http://schemas.microsoft.com/office/drawing/2014/main" id="{E93E2140-4400-F522-8ACA-DFA2F40330CC}"/>
              </a:ext>
            </a:extLst>
          </p:cNvPr>
          <p:cNvPicPr>
            <a:picLocks noChangeAspect="1"/>
          </p:cNvPicPr>
          <p:nvPr/>
        </p:nvPicPr>
        <p:blipFill>
          <a:blip r:embed="rId3"/>
          <a:stretch>
            <a:fillRect/>
          </a:stretch>
        </p:blipFill>
        <p:spPr>
          <a:xfrm>
            <a:off x="7239000" y="3718560"/>
            <a:ext cx="4191000" cy="2590800"/>
          </a:xfrm>
          <a:prstGeom prst="rect">
            <a:avLst/>
          </a:prstGeom>
        </p:spPr>
      </p:pic>
      <p:sp>
        <p:nvSpPr>
          <p:cNvPr id="12" name="TextBox 11">
            <a:extLst>
              <a:ext uri="{FF2B5EF4-FFF2-40B4-BE49-F238E27FC236}">
                <a16:creationId xmlns:a16="http://schemas.microsoft.com/office/drawing/2014/main" id="{E2CDE02E-0408-F9B5-6BFC-15E4DE6F064C}"/>
              </a:ext>
            </a:extLst>
          </p:cNvPr>
          <p:cNvSpPr txBox="1"/>
          <p:nvPr/>
        </p:nvSpPr>
        <p:spPr>
          <a:xfrm>
            <a:off x="8691716" y="6427619"/>
            <a:ext cx="6096000" cy="369332"/>
          </a:xfrm>
          <a:prstGeom prst="rect">
            <a:avLst/>
          </a:prstGeom>
          <a:noFill/>
        </p:spPr>
        <p:txBody>
          <a:bodyPr wrap="square">
            <a:spAutoFit/>
          </a:bodyPr>
          <a:lstStyle/>
          <a:p>
            <a:r>
              <a:rPr lang="en-IN" sz="1800" dirty="0">
                <a:solidFill>
                  <a:schemeClr val="tx2">
                    <a:lumMod val="60000"/>
                    <a:lumOff val="40000"/>
                  </a:schemeClr>
                </a:solidFill>
              </a:rPr>
              <a:t>Website: www.iismexpo.Com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546694" y="457201"/>
            <a:ext cx="10698480" cy="1077218"/>
          </a:xfrm>
          <a:prstGeom prst="rect">
            <a:avLst/>
          </a:prstGeom>
          <a:noFill/>
        </p:spPr>
        <p:txBody>
          <a:bodyPr wrap="square">
            <a:spAutoFit/>
          </a:bodyPr>
          <a:lstStyle/>
          <a:p>
            <a:pPr>
              <a:defRPr sz="3600" b="1">
                <a:solidFill>
                  <a:srgbClr val="F3F4F6"/>
                </a:solidFill>
                <a:latin typeface="Arial"/>
              </a:defRPr>
            </a:pPr>
            <a:r>
              <a:rPr dirty="0">
                <a:solidFill>
                  <a:schemeClr val="tx2">
                    <a:lumMod val="60000"/>
                    <a:lumOff val="40000"/>
                  </a:schemeClr>
                </a:solidFill>
              </a:rPr>
              <a:t>Securing India's Resource Independence</a:t>
            </a:r>
          </a:p>
          <a:p>
            <a:pPr>
              <a:spcBef>
                <a:spcPts val="1200"/>
              </a:spcBef>
              <a:defRPr sz="1800">
                <a:solidFill>
                  <a:srgbClr val="2563EB"/>
                </a:solidFill>
                <a:latin typeface="Arial"/>
              </a:defRPr>
            </a:pPr>
            <a:r>
              <a:rPr dirty="0">
                <a:solidFill>
                  <a:srgbClr val="00B0F0"/>
                </a:solidFill>
              </a:rPr>
              <a:t>Let's collaborate to build a resilient critical mineral future.</a:t>
            </a:r>
          </a:p>
        </p:txBody>
      </p:sp>
      <p:pic>
        <p:nvPicPr>
          <p:cNvPr id="4" name="Picture 3">
            <a:extLst>
              <a:ext uri="{FF2B5EF4-FFF2-40B4-BE49-F238E27FC236}">
                <a16:creationId xmlns:a16="http://schemas.microsoft.com/office/drawing/2014/main" id="{23D5B682-AFD8-4203-007B-8A8B0196FB3E}"/>
              </a:ext>
            </a:extLst>
          </p:cNvPr>
          <p:cNvPicPr>
            <a:picLocks noChangeAspect="1"/>
          </p:cNvPicPr>
          <p:nvPr/>
        </p:nvPicPr>
        <p:blipFill>
          <a:blip r:embed="rId2"/>
          <a:stretch>
            <a:fillRect/>
          </a:stretch>
        </p:blipFill>
        <p:spPr>
          <a:xfrm>
            <a:off x="546694" y="1828801"/>
            <a:ext cx="3283085" cy="2188723"/>
          </a:xfrm>
          <a:prstGeom prst="rect">
            <a:avLst/>
          </a:prstGeom>
        </p:spPr>
        <p:style>
          <a:lnRef idx="2">
            <a:schemeClr val="accent1"/>
          </a:lnRef>
          <a:fillRef idx="1">
            <a:schemeClr val="lt1"/>
          </a:fillRef>
          <a:effectRef idx="0">
            <a:schemeClr val="accent1"/>
          </a:effectRef>
          <a:fontRef idx="minor">
            <a:schemeClr val="dk1"/>
          </a:fontRef>
        </p:style>
      </p:pic>
      <p:pic>
        <p:nvPicPr>
          <p:cNvPr id="6" name="Picture 5">
            <a:extLst>
              <a:ext uri="{FF2B5EF4-FFF2-40B4-BE49-F238E27FC236}">
                <a16:creationId xmlns:a16="http://schemas.microsoft.com/office/drawing/2014/main" id="{3810CAC0-E807-0FEA-12C3-B8B90E80B854}"/>
              </a:ext>
            </a:extLst>
          </p:cNvPr>
          <p:cNvPicPr>
            <a:picLocks noChangeAspect="1"/>
          </p:cNvPicPr>
          <p:nvPr/>
        </p:nvPicPr>
        <p:blipFill>
          <a:blip r:embed="rId3"/>
          <a:stretch>
            <a:fillRect/>
          </a:stretch>
        </p:blipFill>
        <p:spPr>
          <a:xfrm>
            <a:off x="4082697" y="1828800"/>
            <a:ext cx="3283085" cy="2188723"/>
          </a:xfrm>
          <a:prstGeom prst="rect">
            <a:avLst/>
          </a:prstGeom>
        </p:spPr>
        <p:style>
          <a:lnRef idx="2">
            <a:schemeClr val="accent1"/>
          </a:lnRef>
          <a:fillRef idx="1">
            <a:schemeClr val="lt1"/>
          </a:fillRef>
          <a:effectRef idx="0">
            <a:schemeClr val="accent1"/>
          </a:effectRef>
          <a:fontRef idx="minor">
            <a:schemeClr val="dk1"/>
          </a:fontRef>
        </p:style>
      </p:pic>
      <p:pic>
        <p:nvPicPr>
          <p:cNvPr id="8" name="Picture 7">
            <a:extLst>
              <a:ext uri="{FF2B5EF4-FFF2-40B4-BE49-F238E27FC236}">
                <a16:creationId xmlns:a16="http://schemas.microsoft.com/office/drawing/2014/main" id="{0B9D30C7-6CE6-1896-E056-2E0219C87F8E}"/>
              </a:ext>
            </a:extLst>
          </p:cNvPr>
          <p:cNvPicPr>
            <a:picLocks noChangeAspect="1"/>
          </p:cNvPicPr>
          <p:nvPr/>
        </p:nvPicPr>
        <p:blipFill>
          <a:blip r:embed="rId4"/>
          <a:stretch>
            <a:fillRect/>
          </a:stretch>
        </p:blipFill>
        <p:spPr>
          <a:xfrm>
            <a:off x="7618700" y="1828801"/>
            <a:ext cx="2922675" cy="2198472"/>
          </a:xfrm>
          <a:prstGeom prst="rect">
            <a:avLst/>
          </a:prstGeom>
        </p:spPr>
        <p:style>
          <a:lnRef idx="2">
            <a:schemeClr val="accent1"/>
          </a:lnRef>
          <a:fillRef idx="1">
            <a:schemeClr val="lt1"/>
          </a:fillRef>
          <a:effectRef idx="0">
            <a:schemeClr val="accent1"/>
          </a:effectRef>
          <a:fontRef idx="minor">
            <a:schemeClr val="dk1"/>
          </a:fontRef>
        </p:style>
      </p:pic>
      <p:sp>
        <p:nvSpPr>
          <p:cNvPr id="12" name="TextBox 11">
            <a:extLst>
              <a:ext uri="{FF2B5EF4-FFF2-40B4-BE49-F238E27FC236}">
                <a16:creationId xmlns:a16="http://schemas.microsoft.com/office/drawing/2014/main" id="{42FD8ADD-576C-7441-CEDB-07BDF11B8C06}"/>
              </a:ext>
            </a:extLst>
          </p:cNvPr>
          <p:cNvSpPr txBox="1"/>
          <p:nvPr/>
        </p:nvSpPr>
        <p:spPr>
          <a:xfrm>
            <a:off x="3048811" y="4387334"/>
            <a:ext cx="6094378" cy="1754326"/>
          </a:xfrm>
          <a:prstGeom prst="rect">
            <a:avLst/>
          </a:prstGeom>
          <a:noFill/>
        </p:spPr>
        <p:txBody>
          <a:bodyPr wrap="square">
            <a:spAutoFit/>
          </a:bodyPr>
          <a:lstStyle/>
          <a:p>
            <a:r>
              <a:rPr lang="en-US" dirty="0"/>
              <a:t>F</a:t>
            </a:r>
            <a:r>
              <a:rPr lang="en-IN" dirty="0"/>
              <a:t>or More Details and Exhibition Participation</a:t>
            </a:r>
          </a:p>
          <a:p>
            <a:endParaRPr lang="en-IN" sz="1800" dirty="0"/>
          </a:p>
          <a:p>
            <a:r>
              <a:rPr lang="en-IN" sz="1800" dirty="0"/>
              <a:t>Padam </a:t>
            </a:r>
            <a:r>
              <a:rPr lang="en-IN" dirty="0"/>
              <a:t>S</a:t>
            </a:r>
            <a:r>
              <a:rPr lang="en-IN" sz="1800" dirty="0"/>
              <a:t>harma</a:t>
            </a:r>
          </a:p>
          <a:p>
            <a:r>
              <a:rPr lang="en-IN" dirty="0"/>
              <a:t>9971587831, 9220803001</a:t>
            </a:r>
          </a:p>
          <a:p>
            <a:r>
              <a:rPr lang="en-IN" sz="1800" dirty="0"/>
              <a:t>Email: </a:t>
            </a:r>
            <a:r>
              <a:rPr lang="en-IN" dirty="0" err="1"/>
              <a:t>padam@amigoconnect.Com</a:t>
            </a:r>
            <a:endParaRPr lang="en-IN" sz="1800" dirty="0"/>
          </a:p>
          <a:p>
            <a:r>
              <a:rPr lang="en-IN" dirty="0">
                <a:solidFill>
                  <a:srgbClr val="00B0F0"/>
                </a:solidFill>
              </a:rPr>
              <a:t>Website: www.iismexpo.Com</a:t>
            </a:r>
            <a:endParaRPr lang="en-IN" sz="1800" dirty="0">
              <a:solidFill>
                <a:srgbClr val="00B0F0"/>
              </a:solidFill>
            </a:endParaRPr>
          </a:p>
        </p:txBody>
      </p:sp>
      <p:pic>
        <p:nvPicPr>
          <p:cNvPr id="5" name="Picture 4">
            <a:extLst>
              <a:ext uri="{FF2B5EF4-FFF2-40B4-BE49-F238E27FC236}">
                <a16:creationId xmlns:a16="http://schemas.microsoft.com/office/drawing/2014/main" id="{71C2978C-38CE-EBBF-1F00-2326BAC8D333}"/>
              </a:ext>
            </a:extLst>
          </p:cNvPr>
          <p:cNvPicPr>
            <a:picLocks noChangeAspect="1"/>
          </p:cNvPicPr>
          <p:nvPr/>
        </p:nvPicPr>
        <p:blipFill>
          <a:blip r:embed="rId5"/>
          <a:stretch>
            <a:fillRect/>
          </a:stretch>
        </p:blipFill>
        <p:spPr>
          <a:xfrm>
            <a:off x="1100290" y="4533052"/>
            <a:ext cx="985069" cy="856072"/>
          </a:xfrm>
          <a:prstGeom prst="rect">
            <a:avLst/>
          </a:prstGeom>
          <a:solidFill>
            <a:schemeClr val="bg1"/>
          </a:solidFill>
          <a:ln>
            <a:noFill/>
          </a:ln>
        </p:spPr>
      </p:pic>
      <p:sp>
        <p:nvSpPr>
          <p:cNvPr id="9" name="TextBox 8">
            <a:extLst>
              <a:ext uri="{FF2B5EF4-FFF2-40B4-BE49-F238E27FC236}">
                <a16:creationId xmlns:a16="http://schemas.microsoft.com/office/drawing/2014/main" id="{93110076-BB2F-C6C7-4CF8-5090DF59188F}"/>
              </a:ext>
            </a:extLst>
          </p:cNvPr>
          <p:cNvSpPr txBox="1"/>
          <p:nvPr/>
        </p:nvSpPr>
        <p:spPr>
          <a:xfrm>
            <a:off x="432617" y="5495330"/>
            <a:ext cx="2320414" cy="369332"/>
          </a:xfrm>
          <a:prstGeom prst="rect">
            <a:avLst/>
          </a:prstGeom>
          <a:noFill/>
        </p:spPr>
        <p:txBody>
          <a:bodyPr wrap="square">
            <a:spAutoFit/>
          </a:bodyPr>
          <a:lstStyle/>
          <a:p>
            <a:r>
              <a:rPr lang="en-US" sz="1800" dirty="0">
                <a:solidFill>
                  <a:srgbClr val="FF0000"/>
                </a:solidFill>
                <a:latin typeface="Arial Black" panose="020B0A04020102020204" pitchFamily="34" charset="0"/>
              </a:rPr>
              <a:t>AMIGO</a:t>
            </a:r>
            <a:r>
              <a:rPr lang="en-US" sz="1800" dirty="0">
                <a:solidFill>
                  <a:schemeClr val="bg1">
                    <a:lumMod val="65000"/>
                  </a:schemeClr>
                </a:solidFill>
                <a:latin typeface="Arial Black" panose="020B0A04020102020204" pitchFamily="34" charset="0"/>
              </a:rPr>
              <a:t>CONNECT</a:t>
            </a:r>
            <a:endParaRPr lang="en-IN" sz="1800" dirty="0">
              <a:solidFill>
                <a:schemeClr val="bg1">
                  <a:lumMod val="65000"/>
                </a:schemeClr>
              </a:solidFill>
              <a:latin typeface="Arial Black" panose="020B0A04020102020204" pitchFamily="34" charset="0"/>
            </a:endParaRPr>
          </a:p>
        </p:txBody>
      </p:sp>
      <p:sp>
        <p:nvSpPr>
          <p:cNvPr id="11" name="TextBox 10">
            <a:extLst>
              <a:ext uri="{FF2B5EF4-FFF2-40B4-BE49-F238E27FC236}">
                <a16:creationId xmlns:a16="http://schemas.microsoft.com/office/drawing/2014/main" id="{655FCCBC-6D5B-A46E-9D7C-943774ED24B6}"/>
              </a:ext>
            </a:extLst>
          </p:cNvPr>
          <p:cNvSpPr txBox="1"/>
          <p:nvPr/>
        </p:nvSpPr>
        <p:spPr>
          <a:xfrm>
            <a:off x="432617" y="6060592"/>
            <a:ext cx="11562738" cy="523220"/>
          </a:xfrm>
          <a:prstGeom prst="rect">
            <a:avLst/>
          </a:prstGeom>
          <a:noFill/>
        </p:spPr>
        <p:txBody>
          <a:bodyPr wrap="square">
            <a:spAutoFit/>
          </a:bodyPr>
          <a:lstStyle/>
          <a:p>
            <a:r>
              <a:rPr lang="en-IN" sz="28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India International Strategic Minerals Expo (</a:t>
            </a:r>
            <a:r>
              <a:rPr lang="en-IN" sz="2800" dirty="0" err="1">
                <a:solidFill>
                  <a:srgbClr val="00B0F0"/>
                </a:solidFill>
                <a:latin typeface="ADLaM Display" panose="02010000000000000000" pitchFamily="2" charset="0"/>
                <a:ea typeface="ADLaM Display" panose="02010000000000000000" pitchFamily="2" charset="0"/>
                <a:cs typeface="ADLaM Display" panose="02010000000000000000" pitchFamily="2" charset="0"/>
              </a:rPr>
              <a:t>IISMExpo</a:t>
            </a:r>
            <a:r>
              <a:rPr lang="en-IN" sz="2800" dirty="0">
                <a:solidFill>
                  <a:srgbClr val="00B0F0"/>
                </a:solidFill>
                <a:latin typeface="ADLaM Display" panose="02010000000000000000" pitchFamily="2" charset="0"/>
                <a:ea typeface="ADLaM Display" panose="02010000000000000000" pitchFamily="2" charset="0"/>
                <a:cs typeface="ADLaM Display" panose="02010000000000000000" pitchFamily="2" charset="0"/>
              </a:rPr>
              <a:t>) - 2027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360</TotalTime>
  <Words>1129</Words>
  <Application>Microsoft Office PowerPoint</Application>
  <PresentationFormat>Widescreen</PresentationFormat>
  <Paragraphs>114</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ADLaM Display</vt:lpstr>
      <vt:lpstr>Arial</vt:lpstr>
      <vt:lpstr>Arial Black</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Padam Sharma</cp:lastModifiedBy>
  <cp:revision>1</cp:revision>
  <dcterms:created xsi:type="dcterms:W3CDTF">2013-01-27T09:14:16Z</dcterms:created>
  <dcterms:modified xsi:type="dcterms:W3CDTF">2026-09-15T12:07:52Z</dcterms:modified>
  <cp:category/>
</cp:coreProperties>
</file>